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2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</p:sldIdLst>
  <p:sldSz cy="5143500" cx="9144000"/>
  <p:notesSz cx="5143500" cy="9144000"/>
  <p:embeddedFontLst>
    <p:embeddedFont>
      <p:font typeface="IBM Plex Sans"/>
      <p:regular r:id="rId16"/>
      <p:bold r:id="rId17"/>
      <p:italic r:id="rId18"/>
      <p:boldItalic r:id="rId19"/>
    </p:embeddedFont>
    <p:embeddedFont>
      <p:font typeface="IBM Plex Mono Medium"/>
      <p:regular r:id="rId20"/>
      <p:bold r:id="rId21"/>
      <p:italic r:id="rId22"/>
      <p:boldItalic r:id="rId23"/>
    </p:embeddedFont>
    <p:embeddedFont>
      <p:font typeface="Barlow Condensed"/>
      <p:bold r:id="rId24"/>
      <p:boldItalic r:id="rId25"/>
    </p:embeddedFont>
    <p:embeddedFont>
      <p:font typeface="IBM Plex Mono SemiBold"/>
      <p:regular r:id="rId26"/>
      <p:bold r:id="rId27"/>
      <p:italic r:id="rId28"/>
      <p:boldItalic r:id="rId29"/>
    </p:embeddedFont>
    <p:embeddedFont>
      <p:font typeface="IBM Plex Sans SemiBold"/>
      <p:regular r:id="rId30"/>
      <p:bold r:id="rId31"/>
      <p:italic r:id="rId32"/>
      <p:boldItalic r:id="rId33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C88FD080-7314-4CB2-AF5C-8A6759A5FB81}">
  <a:tblStyle styleId="{C88FD080-7314-4CB2-AF5C-8A6759A5FB81}" styleName="Table_0">
    <a:wholeTbl>
      <a:tcTxStyle>
        <a:font>
          <a:latin typeface="Arial"/>
          <a:ea typeface="Arial"/>
          <a:cs typeface="Arial"/>
        </a:font>
        <a:srgbClr val="000000"/>
      </a:tcTx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IBMPlexMonoMedium-regular.fntdata"/><Relationship Id="rId22" Type="http://schemas.openxmlformats.org/officeDocument/2006/relationships/font" Target="fonts/IBMPlexMonoMedium-italic.fntdata"/><Relationship Id="rId21" Type="http://schemas.openxmlformats.org/officeDocument/2006/relationships/font" Target="fonts/IBMPlexMonoMedium-bold.fntdata"/><Relationship Id="rId24" Type="http://schemas.openxmlformats.org/officeDocument/2006/relationships/font" Target="fonts/BarlowCondensed-bold.fntdata"/><Relationship Id="rId23" Type="http://schemas.openxmlformats.org/officeDocument/2006/relationships/font" Target="fonts/IBMPlexMonoMedium-boldItalic.fntdata"/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font" Target="fonts/IBMPlexMonoSemiBold-regular.fntdata"/><Relationship Id="rId25" Type="http://schemas.openxmlformats.org/officeDocument/2006/relationships/font" Target="fonts/BarlowCondensed-boldItalic.fntdata"/><Relationship Id="rId28" Type="http://schemas.openxmlformats.org/officeDocument/2006/relationships/font" Target="fonts/IBMPlexMonoSemiBold-italic.fntdata"/><Relationship Id="rId27" Type="http://schemas.openxmlformats.org/officeDocument/2006/relationships/font" Target="fonts/IBMPlexMonoSemiBold-bold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29" Type="http://schemas.openxmlformats.org/officeDocument/2006/relationships/font" Target="fonts/IBMPlexMonoSemiBold-boldItalic.fntdata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1" Type="http://schemas.openxmlformats.org/officeDocument/2006/relationships/font" Target="fonts/IBMPlexSansSemiBold-bold.fntdata"/><Relationship Id="rId30" Type="http://schemas.openxmlformats.org/officeDocument/2006/relationships/font" Target="fonts/IBMPlexSansSemiBold-regular.fntdata"/><Relationship Id="rId11" Type="http://schemas.openxmlformats.org/officeDocument/2006/relationships/slide" Target="slides/slide6.xml"/><Relationship Id="rId33" Type="http://schemas.openxmlformats.org/officeDocument/2006/relationships/font" Target="fonts/IBMPlexSansSemiBold-boldItalic.fntdata"/><Relationship Id="rId10" Type="http://schemas.openxmlformats.org/officeDocument/2006/relationships/slide" Target="slides/slide5.xml"/><Relationship Id="rId32" Type="http://schemas.openxmlformats.org/officeDocument/2006/relationships/font" Target="fonts/IBMPlexSansSemiBold-italic.fntdata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font" Target="fonts/IBMPlexSans-bold.fntdata"/><Relationship Id="rId16" Type="http://schemas.openxmlformats.org/officeDocument/2006/relationships/font" Target="fonts/IBMPlexSans-regular.fntdata"/><Relationship Id="rId19" Type="http://schemas.openxmlformats.org/officeDocument/2006/relationships/font" Target="fonts/IBMPlexSans-boldItalic.fntdata"/><Relationship Id="rId18" Type="http://schemas.openxmlformats.org/officeDocument/2006/relationships/font" Target="fonts/IBMPlexSans-italic.fntdata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7" name="Google Shape;27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" name="Google Shape;28;p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7" name="Google Shape;47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" name="Google Shape;48;p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6" name="Google Shape;66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7" name="Google Shape;67;p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1" name="Google Shape;81;p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9" name="Google Shape;109;p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0" name="Google Shape;110;p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2" name="Google Shape;132;p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3" name="Google Shape;133;p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p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56" name="Google Shape;156;p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7" name="Google Shape;157;p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2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Google Shape;183;p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84" name="Google Shape;184;p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5" name="Google Shape;185;p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Google Shape;192;p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93" name="Google Shape;193;p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4" name="Google Shape;194;p9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0" name="Shape 2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" name="Google Shape;221;p1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22" name="Google Shape;222;p1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3" name="Google Shape;223;p10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hyperlink" Target="https://gamma.app/?utm_source=made-with-gamma" TargetMode="External"/><Relationship Id="rId3" Type="http://schemas.openxmlformats.org/officeDocument/2006/relationships/image" Target="../media/image1.png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hyperlink" Target="https://gamma.app/?utm_source=made-with-gamma" TargetMode="External"/><Relationship Id="rId3" Type="http://schemas.openxmlformats.org/officeDocument/2006/relationships/image" Target="../media/image1.png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hyperlink" Target="https://gamma.app/?utm_source=made-with-gamma" TargetMode="External"/><Relationship Id="rId3" Type="http://schemas.openxmlformats.org/officeDocument/2006/relationships/image" Target="../media/image1.png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master 1">
  <p:cSld name="Slide master 1">
    <p:spTree>
      <p:nvGrpSpPr>
        <p:cNvPr id="10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Google Shape;11;p2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2F394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" name="Google Shape;12;p2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ECEAE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" name="Google Shape;13;p2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noFill/>
          <a:ln cap="flat" cmpd="sng" w="9525">
            <a:solidFill>
              <a:srgbClr val="8A112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4" name="Google Shape;14;p2">
            <a:hlinkClick r:id="rId2"/>
          </p:cNvPr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029180" y="4844491"/>
            <a:ext cx="1071843" cy="25603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master 2">
  <p:cSld name="Slide master 2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2F394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" name="Google Shape;17;p3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ECEAE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8" name="Google Shape;18;p3">
            <a:hlinkClick r:id="rId2"/>
          </p:cNvPr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029180" y="4844491"/>
            <a:ext cx="1071843" cy="25603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master 3">
  <p:cSld name="Slide master 3">
    <p:spTree>
      <p:nvGrpSpPr>
        <p:cNvPr id="19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p4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2F394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" name="Google Shape;21;p4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ECEAE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" name="Google Shape;22;p4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noFill/>
          <a:ln cap="flat" cmpd="sng" w="19050">
            <a:solidFill>
              <a:srgbClr val="C8BCC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23" name="Google Shape;23;p4">
            <a:hlinkClick r:id="rId2"/>
          </p:cNvPr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029180" y="4844491"/>
            <a:ext cx="1071843" cy="25603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24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.png"/><Relationship Id="rId4" Type="http://schemas.openxmlformats.org/officeDocument/2006/relationships/image" Target="../media/image3.jp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5.jp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4.png"/><Relationship Id="rId4" Type="http://schemas.openxmlformats.org/officeDocument/2006/relationships/image" Target="../media/image6.png"/><Relationship Id="rId5" Type="http://schemas.openxmlformats.org/officeDocument/2006/relationships/image" Target="../media/image7.png"/><Relationship Id="rId6" Type="http://schemas.openxmlformats.org/officeDocument/2006/relationships/image" Target="../media/image8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9.png"/><Relationship Id="rId4" Type="http://schemas.openxmlformats.org/officeDocument/2006/relationships/image" Target="../media/image10.png"/><Relationship Id="rId5" Type="http://schemas.openxmlformats.org/officeDocument/2006/relationships/image" Target="../media/image11.png"/><Relationship Id="rId6" Type="http://schemas.openxmlformats.org/officeDocument/2006/relationships/image" Target="../media/image12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30" name="Google Shape;30;p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52413" y="290513"/>
            <a:ext cx="361950" cy="400720"/>
          </a:xfrm>
          <a:prstGeom prst="rect">
            <a:avLst/>
          </a:prstGeom>
          <a:noFill/>
          <a:ln>
            <a:noFill/>
          </a:ln>
        </p:spPr>
      </p:pic>
      <p:sp>
        <p:nvSpPr>
          <p:cNvPr id="31" name="Google Shape;31;p6"/>
          <p:cNvSpPr/>
          <p:nvPr/>
        </p:nvSpPr>
        <p:spPr>
          <a:xfrm>
            <a:off x="252413" y="982191"/>
            <a:ext cx="2951187" cy="14867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Clr>
                <a:srgbClr val="8A1125"/>
              </a:buClr>
              <a:buSzPts val="950"/>
              <a:buFont typeface="IBM Plex Mono SemiBold"/>
              <a:buNone/>
            </a:pPr>
            <a:r>
              <a:rPr b="0" i="0" lang="en-US" sz="950" u="none" cap="none" strike="noStrike">
                <a:solidFill>
                  <a:srgbClr val="8A1125"/>
                </a:solidFill>
                <a:latin typeface="IBM Plex Mono SemiBold"/>
                <a:ea typeface="IBM Plex Mono SemiBold"/>
                <a:cs typeface="IBM Plex Mono SemiBold"/>
                <a:sym typeface="IBM Plex Mono SemiBold"/>
              </a:rPr>
              <a:t>ST. MARTINS ENGINEERING COLLEGE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" name="Google Shape;32;p6"/>
          <p:cNvSpPr/>
          <p:nvPr/>
        </p:nvSpPr>
        <p:spPr>
          <a:xfrm>
            <a:off x="252413" y="1290861"/>
            <a:ext cx="2587600" cy="91320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123B4A"/>
              </a:buClr>
              <a:buSzPts val="3450"/>
              <a:buFont typeface="Barlow Condensed"/>
              <a:buNone/>
            </a:pPr>
            <a:r>
              <a:rPr b="1" i="0" lang="en-US" sz="3450" u="none" cap="none" strike="noStrike">
                <a:solidFill>
                  <a:srgbClr val="123B4A"/>
                </a:solidFill>
                <a:latin typeface="Barlow Condensed"/>
                <a:ea typeface="Barlow Condensed"/>
                <a:cs typeface="Barlow Condensed"/>
                <a:sym typeface="Barlow Condensed"/>
              </a:rPr>
              <a:t>Nano</a:t>
            </a:r>
            <a:endParaRPr b="0" i="0" sz="3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123B4A"/>
              </a:buClr>
              <a:buSzPts val="3450"/>
              <a:buFont typeface="Barlow Condensed"/>
              <a:buNone/>
            </a:pPr>
            <a:r>
              <a:rPr b="1" i="0" lang="en-US" sz="3450" u="none" cap="none" strike="noStrike">
                <a:solidFill>
                  <a:srgbClr val="123B4A"/>
                </a:solidFill>
                <a:latin typeface="Barlow Condensed"/>
                <a:ea typeface="Barlow Condensed"/>
                <a:cs typeface="Barlow Condensed"/>
                <a:sym typeface="Barlow Condensed"/>
              </a:rPr>
              <a:t>technology</a:t>
            </a:r>
            <a:endParaRPr b="0" i="0" sz="3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" name="Google Shape;33;p6"/>
          <p:cNvSpPr/>
          <p:nvPr/>
        </p:nvSpPr>
        <p:spPr>
          <a:xfrm>
            <a:off x="252413" y="2346945"/>
            <a:ext cx="2587600" cy="40838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rgbClr val="244B59"/>
              </a:buClr>
              <a:buSzPts val="1200"/>
              <a:buFont typeface="IBM Plex Sans"/>
              <a:buNone/>
            </a:pPr>
            <a:r>
              <a:rPr b="0" i="0" lang="en-US" sz="1200" u="none" cap="none" strike="noStrike">
                <a:solidFill>
                  <a:srgbClr val="244B59"/>
                </a:solidFill>
                <a:latin typeface="IBM Plex Sans"/>
                <a:ea typeface="IBM Plex Sans"/>
                <a:cs typeface="IBM Plex Sans"/>
                <a:sym typeface="IBM Plex Sans"/>
              </a:rPr>
              <a:t>From nanoscale behavior to engineered commercial value.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" name="Google Shape;34;p6"/>
          <p:cNvSpPr/>
          <p:nvPr/>
        </p:nvSpPr>
        <p:spPr>
          <a:xfrm>
            <a:off x="252413" y="3000598"/>
            <a:ext cx="2587600" cy="85948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78000"/>
              </a:lnSpc>
              <a:spcBef>
                <a:spcPts val="0"/>
              </a:spcBef>
              <a:spcAft>
                <a:spcPts val="0"/>
              </a:spcAft>
              <a:buClr>
                <a:srgbClr val="123B4A"/>
              </a:buClr>
              <a:buSzPts val="3550"/>
              <a:buFont typeface="Barlow Condensed"/>
              <a:buNone/>
            </a:pPr>
            <a:r>
              <a:rPr b="1" i="0" lang="en-US" sz="3550" u="none" cap="none" strike="noStrike">
                <a:solidFill>
                  <a:srgbClr val="123B4A"/>
                </a:solidFill>
                <a:latin typeface="Barlow Condensed"/>
                <a:ea typeface="Barlow Condensed"/>
                <a:cs typeface="Barlow Condensed"/>
                <a:sym typeface="Barlow Condensed"/>
              </a:rPr>
              <a:t>BY PRAJWAL &amp; OMKAR</a:t>
            </a:r>
            <a:endParaRPr b="0" i="0" sz="3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35" name="Google Shape;35;p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049563" y="4763"/>
            <a:ext cx="6089675" cy="4449440"/>
          </a:xfrm>
          <a:prstGeom prst="rect">
            <a:avLst/>
          </a:prstGeom>
          <a:noFill/>
          <a:ln>
            <a:noFill/>
          </a:ln>
        </p:spPr>
      </p:pic>
      <p:sp>
        <p:nvSpPr>
          <p:cNvPr id="36" name="Google Shape;36;p6"/>
          <p:cNvSpPr/>
          <p:nvPr/>
        </p:nvSpPr>
        <p:spPr>
          <a:xfrm>
            <a:off x="252413" y="4735488"/>
            <a:ext cx="2416894" cy="12196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Clr>
                <a:srgbClr val="55595E"/>
              </a:buClr>
              <a:buSzPts val="800"/>
              <a:buFont typeface="IBM Plex Mono Medium"/>
              <a:buNone/>
            </a:pPr>
            <a:r>
              <a:rPr b="0" i="0" lang="en-US" sz="800" u="none" cap="none" strike="noStrike">
                <a:solidFill>
                  <a:srgbClr val="55595E"/>
                </a:solidFill>
                <a:latin typeface="IBM Plex Mono Medium"/>
                <a:ea typeface="IBM Plex Mono Medium"/>
                <a:cs typeface="IBM Plex Mono Medium"/>
                <a:sym typeface="IBM Plex Mono Medium"/>
              </a:rPr>
              <a:t>MATERIALS &amp; DEVICES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" name="Google Shape;37;p6"/>
          <p:cNvSpPr/>
          <p:nvPr/>
        </p:nvSpPr>
        <p:spPr>
          <a:xfrm>
            <a:off x="2478807" y="4735488"/>
            <a:ext cx="2416969" cy="12196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Clr>
                <a:srgbClr val="55595E"/>
              </a:buClr>
              <a:buSzPts val="800"/>
              <a:buFont typeface="IBM Plex Mono Medium"/>
              <a:buNone/>
            </a:pPr>
            <a:r>
              <a:rPr b="0" i="0" lang="en-US" sz="800" u="none" cap="none" strike="noStrike">
                <a:solidFill>
                  <a:srgbClr val="55595E"/>
                </a:solidFill>
                <a:latin typeface="IBM Plex Mono Medium"/>
                <a:ea typeface="IBM Plex Mono Medium"/>
                <a:cs typeface="IBM Plex Mono Medium"/>
                <a:sym typeface="IBM Plex Mono Medium"/>
              </a:rPr>
              <a:t>APPLICATIONS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" name="Google Shape;38;p6"/>
          <p:cNvSpPr/>
          <p:nvPr/>
        </p:nvSpPr>
        <p:spPr>
          <a:xfrm>
            <a:off x="4705276" y="4735488"/>
            <a:ext cx="2416969" cy="12196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Clr>
                <a:srgbClr val="55595E"/>
              </a:buClr>
              <a:buSzPts val="800"/>
              <a:buFont typeface="IBM Plex Mono Medium"/>
              <a:buNone/>
            </a:pPr>
            <a:r>
              <a:rPr b="0" i="0" lang="en-US" sz="800" u="none" cap="none" strike="noStrike">
                <a:solidFill>
                  <a:srgbClr val="55595E"/>
                </a:solidFill>
                <a:latin typeface="IBM Plex Mono Medium"/>
                <a:ea typeface="IBM Plex Mono Medium"/>
                <a:cs typeface="IBM Plex Mono Medium"/>
                <a:sym typeface="IBM Plex Mono Medium"/>
              </a:rPr>
              <a:t>SCALE-UP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" name="Google Shape;39;p6"/>
          <p:cNvSpPr/>
          <p:nvPr/>
        </p:nvSpPr>
        <p:spPr>
          <a:xfrm>
            <a:off x="6931744" y="4735488"/>
            <a:ext cx="2212256" cy="12196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Clr>
                <a:srgbClr val="55595E"/>
              </a:buClr>
              <a:buSzPts val="800"/>
              <a:buFont typeface="IBM Plex Mono Medium"/>
              <a:buNone/>
            </a:pPr>
            <a:r>
              <a:rPr b="0" i="0" lang="en-US" sz="800" u="none" cap="none" strike="noStrike">
                <a:solidFill>
                  <a:srgbClr val="55595E"/>
                </a:solidFill>
                <a:latin typeface="IBM Plex Mono Medium"/>
                <a:ea typeface="IBM Plex Mono Medium"/>
                <a:cs typeface="IBM Plex Mono Medium"/>
                <a:sym typeface="IBM Plex Mono Medium"/>
              </a:rPr>
              <a:t>MARKET READINESS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" name="Google Shape;40;p6"/>
          <p:cNvSpPr/>
          <p:nvPr/>
        </p:nvSpPr>
        <p:spPr>
          <a:xfrm>
            <a:off x="3044800" y="4763"/>
            <a:ext cx="9525" cy="4449440"/>
          </a:xfrm>
          <a:prstGeom prst="rect">
            <a:avLst/>
          </a:prstGeom>
          <a:solidFill>
            <a:srgbClr val="8A112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" name="Google Shape;41;p6"/>
          <p:cNvSpPr/>
          <p:nvPr/>
        </p:nvSpPr>
        <p:spPr>
          <a:xfrm>
            <a:off x="4763" y="4449440"/>
            <a:ext cx="9134475" cy="9525"/>
          </a:xfrm>
          <a:prstGeom prst="rect">
            <a:avLst/>
          </a:prstGeom>
          <a:solidFill>
            <a:srgbClr val="8A112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" name="Google Shape;42;p6"/>
          <p:cNvSpPr/>
          <p:nvPr/>
        </p:nvSpPr>
        <p:spPr>
          <a:xfrm>
            <a:off x="2340694" y="4511353"/>
            <a:ext cx="9525" cy="570235"/>
          </a:xfrm>
          <a:prstGeom prst="rect">
            <a:avLst/>
          </a:prstGeom>
          <a:solidFill>
            <a:srgbClr val="A0A3A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" name="Google Shape;43;p6"/>
          <p:cNvSpPr/>
          <p:nvPr/>
        </p:nvSpPr>
        <p:spPr>
          <a:xfrm>
            <a:off x="4567163" y="4511353"/>
            <a:ext cx="9525" cy="570235"/>
          </a:xfrm>
          <a:prstGeom prst="rect">
            <a:avLst/>
          </a:prstGeom>
          <a:solidFill>
            <a:srgbClr val="A0A3A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" name="Google Shape;44;p6"/>
          <p:cNvSpPr/>
          <p:nvPr/>
        </p:nvSpPr>
        <p:spPr>
          <a:xfrm>
            <a:off x="6793632" y="4511353"/>
            <a:ext cx="9525" cy="570235"/>
          </a:xfrm>
          <a:prstGeom prst="rect">
            <a:avLst/>
          </a:prstGeom>
          <a:solidFill>
            <a:srgbClr val="A0A3A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7"/>
          <p:cNvSpPr/>
          <p:nvPr/>
        </p:nvSpPr>
        <p:spPr>
          <a:xfrm>
            <a:off x="633413" y="500062"/>
            <a:ext cx="8448675" cy="12196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Clr>
                <a:srgbClr val="8A1125"/>
              </a:buClr>
              <a:buSzPts val="800"/>
              <a:buFont typeface="IBM Plex Mono SemiBold"/>
              <a:buNone/>
            </a:pPr>
            <a:r>
              <a:rPr b="0" i="0" lang="en-US" sz="800" u="none" cap="none" strike="noStrike">
                <a:solidFill>
                  <a:srgbClr val="8A1125"/>
                </a:solidFill>
                <a:latin typeface="IBM Plex Mono SemiBold"/>
                <a:ea typeface="IBM Plex Mono SemiBold"/>
                <a:cs typeface="IBM Plex Mono SemiBold"/>
                <a:sym typeface="IBM Plex Mono SemiBold"/>
              </a:rPr>
              <a:t>THE CORE PROPOSITION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" name="Google Shape;51;p7"/>
          <p:cNvSpPr/>
          <p:nvPr/>
        </p:nvSpPr>
        <p:spPr>
          <a:xfrm>
            <a:off x="633413" y="679177"/>
            <a:ext cx="7991475" cy="177276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78000"/>
              </a:lnSpc>
              <a:spcBef>
                <a:spcPts val="0"/>
              </a:spcBef>
              <a:spcAft>
                <a:spcPts val="0"/>
              </a:spcAft>
              <a:buClr>
                <a:srgbClr val="123B4A"/>
              </a:buClr>
              <a:buSzPts val="4850"/>
              <a:buFont typeface="Barlow Condensed"/>
              <a:buNone/>
            </a:pPr>
            <a:r>
              <a:rPr b="1" i="0" lang="en-US" sz="4850" u="none" cap="none" strike="noStrike">
                <a:solidFill>
                  <a:srgbClr val="123B4A"/>
                </a:solidFill>
                <a:latin typeface="Barlow Condensed"/>
                <a:ea typeface="Barlow Condensed"/>
                <a:cs typeface="Barlow Condensed"/>
                <a:sym typeface="Barlow Condensed"/>
              </a:rPr>
              <a:t>THE NANOSCALE</a:t>
            </a:r>
            <a:endParaRPr b="0" i="0" sz="4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78000"/>
              </a:lnSpc>
              <a:spcBef>
                <a:spcPts val="0"/>
              </a:spcBef>
              <a:spcAft>
                <a:spcPts val="0"/>
              </a:spcAft>
              <a:buClr>
                <a:srgbClr val="123B4A"/>
              </a:buClr>
              <a:buSzPts val="4850"/>
              <a:buFont typeface="Barlow Condensed"/>
              <a:buNone/>
            </a:pPr>
            <a:r>
              <a:rPr b="1" i="0" lang="en-US" sz="4850" u="none" cap="none" strike="noStrike">
                <a:solidFill>
                  <a:srgbClr val="123B4A"/>
                </a:solidFill>
                <a:latin typeface="Barlow Condensed"/>
                <a:ea typeface="Barlow Condensed"/>
                <a:cs typeface="Barlow Condensed"/>
                <a:sym typeface="Barlow Condensed"/>
              </a:rPr>
              <a:t>MATTERS WHEN IT</a:t>
            </a:r>
            <a:endParaRPr b="0" i="0" sz="4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78000"/>
              </a:lnSpc>
              <a:spcBef>
                <a:spcPts val="0"/>
              </a:spcBef>
              <a:spcAft>
                <a:spcPts val="0"/>
              </a:spcAft>
              <a:buClr>
                <a:srgbClr val="123B4A"/>
              </a:buClr>
              <a:buSzPts val="4850"/>
              <a:buFont typeface="Barlow Condensed"/>
              <a:buNone/>
            </a:pPr>
            <a:r>
              <a:rPr b="1" i="0" lang="en-US" sz="4850" u="none" cap="none" strike="noStrike">
                <a:solidFill>
                  <a:srgbClr val="123B4A"/>
                </a:solidFill>
                <a:latin typeface="Barlow Condensed"/>
                <a:ea typeface="Barlow Condensed"/>
                <a:cs typeface="Barlow Condensed"/>
                <a:sym typeface="Barlow Condensed"/>
              </a:rPr>
              <a:t>CHANGES PERFORMANCE.</a:t>
            </a:r>
            <a:endParaRPr b="0" i="0" sz="4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" name="Google Shape;52;p7"/>
          <p:cNvSpPr/>
          <p:nvPr/>
        </p:nvSpPr>
        <p:spPr>
          <a:xfrm>
            <a:off x="633413" y="2594818"/>
            <a:ext cx="8448675" cy="20419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rgbClr val="244B59"/>
              </a:buClr>
              <a:buSzPts val="1200"/>
              <a:buFont typeface="IBM Plex Sans"/>
              <a:buNone/>
            </a:pPr>
            <a:r>
              <a:rPr b="0" i="0" lang="en-US" sz="1200" u="none" cap="none" strike="noStrike">
                <a:solidFill>
                  <a:srgbClr val="244B59"/>
                </a:solidFill>
                <a:latin typeface="IBM Plex Sans"/>
                <a:ea typeface="IBM Plex Sans"/>
                <a:cs typeface="IBM Plex Sans"/>
                <a:sym typeface="IBM Plex Sans"/>
              </a:rPr>
              <a:t>Nanotechnology is the understanding and control of matter at the nanoscale.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" name="Google Shape;53;p7"/>
          <p:cNvSpPr/>
          <p:nvPr/>
        </p:nvSpPr>
        <p:spPr>
          <a:xfrm>
            <a:off x="633413" y="4139878"/>
            <a:ext cx="7991475" cy="23738"/>
          </a:xfrm>
          <a:prstGeom prst="roundRect">
            <a:avLst>
              <a:gd fmla="val 50000" name="adj"/>
            </a:avLst>
          </a:prstGeom>
          <a:solidFill>
            <a:srgbClr val="8A112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" name="Google Shape;54;p7"/>
          <p:cNvSpPr/>
          <p:nvPr/>
        </p:nvSpPr>
        <p:spPr>
          <a:xfrm>
            <a:off x="633413" y="4329187"/>
            <a:ext cx="2949550" cy="12196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Clr>
                <a:srgbClr val="55595E"/>
              </a:buClr>
              <a:buSzPts val="800"/>
              <a:buFont typeface="IBM Plex Mono Medium"/>
              <a:buNone/>
            </a:pPr>
            <a:r>
              <a:rPr b="0" i="0" lang="en-US" sz="800" u="none" cap="none" strike="noStrike">
                <a:solidFill>
                  <a:srgbClr val="55595E"/>
                </a:solidFill>
                <a:latin typeface="IBM Plex Mono Medium"/>
                <a:ea typeface="IBM Plex Mono Medium"/>
                <a:cs typeface="IBM Plex Mono Medium"/>
                <a:sym typeface="IBM Plex Mono Medium"/>
              </a:rPr>
              <a:t>SCALE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" name="Google Shape;55;p7"/>
          <p:cNvSpPr/>
          <p:nvPr/>
        </p:nvSpPr>
        <p:spPr>
          <a:xfrm>
            <a:off x="633413" y="4534495"/>
            <a:ext cx="2949550" cy="20419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rgbClr val="244B59"/>
              </a:buClr>
              <a:buSzPts val="1200"/>
              <a:buFont typeface="IBM Plex Sans"/>
              <a:buNone/>
            </a:pPr>
            <a:r>
              <a:rPr b="0" i="0" lang="en-US" sz="1200" u="none" cap="none" strike="noStrike">
                <a:solidFill>
                  <a:srgbClr val="244B59"/>
                </a:solidFill>
                <a:latin typeface="IBM Plex Sans"/>
                <a:ea typeface="IBM Plex Sans"/>
                <a:cs typeface="IBM Plex Sans"/>
                <a:sym typeface="IBM Plex Sans"/>
              </a:rPr>
              <a:t>1 nm = 10⁻⁹ m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" name="Google Shape;56;p7"/>
          <p:cNvSpPr/>
          <p:nvPr/>
        </p:nvSpPr>
        <p:spPr>
          <a:xfrm>
            <a:off x="3468663" y="4329187"/>
            <a:ext cx="2778100" cy="12196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Clr>
                <a:srgbClr val="55595E"/>
              </a:buClr>
              <a:buSzPts val="800"/>
              <a:buFont typeface="IBM Plex Mono Medium"/>
              <a:buNone/>
            </a:pPr>
            <a:r>
              <a:rPr b="0" i="0" lang="en-US" sz="800" u="none" cap="none" strike="noStrike">
                <a:solidFill>
                  <a:srgbClr val="55595E"/>
                </a:solidFill>
                <a:latin typeface="IBM Plex Mono Medium"/>
                <a:ea typeface="IBM Plex Mono Medium"/>
                <a:cs typeface="IBM Plex Mono Medium"/>
                <a:sym typeface="IBM Plex Mono Medium"/>
              </a:rPr>
              <a:t>WORKING RANGE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" name="Google Shape;57;p7"/>
          <p:cNvSpPr/>
          <p:nvPr/>
        </p:nvSpPr>
        <p:spPr>
          <a:xfrm>
            <a:off x="3468663" y="4534495"/>
            <a:ext cx="2778100" cy="20419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rgbClr val="244B59"/>
              </a:buClr>
              <a:buSzPts val="1200"/>
              <a:buFont typeface="IBM Plex Sans"/>
              <a:buNone/>
            </a:pPr>
            <a:r>
              <a:rPr b="0" i="0" lang="en-US" sz="1200" u="none" cap="none" strike="noStrike">
                <a:solidFill>
                  <a:srgbClr val="244B59"/>
                </a:solidFill>
                <a:latin typeface="IBM Plex Sans"/>
                <a:ea typeface="IBM Plex Sans"/>
                <a:cs typeface="IBM Plex Sans"/>
                <a:sym typeface="IBM Plex Sans"/>
              </a:rPr>
              <a:t>Usually 1–100 nm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" name="Google Shape;58;p7"/>
          <p:cNvSpPr/>
          <p:nvPr/>
        </p:nvSpPr>
        <p:spPr>
          <a:xfrm>
            <a:off x="6132463" y="4329187"/>
            <a:ext cx="2949550" cy="12196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Clr>
                <a:srgbClr val="55595E"/>
              </a:buClr>
              <a:buSzPts val="800"/>
              <a:buFont typeface="IBM Plex Mono Medium"/>
              <a:buNone/>
            </a:pPr>
            <a:r>
              <a:rPr b="0" i="0" lang="en-US" sz="800" u="none" cap="none" strike="noStrike">
                <a:solidFill>
                  <a:srgbClr val="55595E"/>
                </a:solidFill>
                <a:latin typeface="IBM Plex Mono Medium"/>
                <a:ea typeface="IBM Plex Mono Medium"/>
                <a:cs typeface="IBM Plex Mono Medium"/>
                <a:sym typeface="IBM Plex Mono Medium"/>
              </a:rPr>
              <a:t>PRODUCT EFFECT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" name="Google Shape;59;p7"/>
          <p:cNvSpPr/>
          <p:nvPr/>
        </p:nvSpPr>
        <p:spPr>
          <a:xfrm>
            <a:off x="6132463" y="4534495"/>
            <a:ext cx="2949550" cy="20419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rgbClr val="244B59"/>
              </a:buClr>
              <a:buSzPts val="1200"/>
              <a:buFont typeface="IBM Plex Sans"/>
              <a:buNone/>
            </a:pPr>
            <a:r>
              <a:rPr b="0" i="0" lang="en-US" sz="1200" u="none" cap="none" strike="noStrike">
                <a:solidFill>
                  <a:srgbClr val="244B59"/>
                </a:solidFill>
                <a:latin typeface="IBM Plex Sans"/>
                <a:ea typeface="IBM Plex Sans"/>
                <a:cs typeface="IBM Plex Sans"/>
                <a:sym typeface="IBM Plex Sans"/>
              </a:rPr>
              <a:t>Surface, size, and structure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" name="Google Shape;60;p7"/>
          <p:cNvSpPr/>
          <p:nvPr/>
        </p:nvSpPr>
        <p:spPr>
          <a:xfrm>
            <a:off x="3292450" y="4329187"/>
            <a:ext cx="9525" cy="409501"/>
          </a:xfrm>
          <a:prstGeom prst="rect">
            <a:avLst/>
          </a:prstGeom>
          <a:solidFill>
            <a:srgbClr val="8A112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1" name="Google Shape;61;p7"/>
          <p:cNvSpPr/>
          <p:nvPr/>
        </p:nvSpPr>
        <p:spPr>
          <a:xfrm>
            <a:off x="5956250" y="4329187"/>
            <a:ext cx="9525" cy="409501"/>
          </a:xfrm>
          <a:prstGeom prst="rect">
            <a:avLst/>
          </a:prstGeom>
          <a:solidFill>
            <a:srgbClr val="8A112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2" name="Google Shape;62;p7"/>
          <p:cNvSpPr/>
          <p:nvPr/>
        </p:nvSpPr>
        <p:spPr>
          <a:xfrm>
            <a:off x="419100" y="1352550"/>
            <a:ext cx="47625" cy="1562100"/>
          </a:xfrm>
          <a:prstGeom prst="rect">
            <a:avLst/>
          </a:prstGeom>
          <a:solidFill>
            <a:srgbClr val="8A112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" name="Google Shape;63;p7"/>
          <p:cNvSpPr/>
          <p:nvPr/>
        </p:nvSpPr>
        <p:spPr>
          <a:xfrm>
            <a:off x="6705600" y="865287"/>
            <a:ext cx="1924050" cy="114597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78000"/>
              </a:lnSpc>
              <a:spcBef>
                <a:spcPts val="0"/>
              </a:spcBef>
              <a:spcAft>
                <a:spcPts val="0"/>
              </a:spcAft>
              <a:buClr>
                <a:srgbClr val="8A1125"/>
              </a:buClr>
              <a:buSzPts val="9400"/>
              <a:buFont typeface="Barlow Condensed"/>
              <a:buNone/>
            </a:pPr>
            <a:r>
              <a:rPr b="1" i="0" lang="en-US" sz="9400" u="none" cap="none" strike="noStrike">
                <a:solidFill>
                  <a:srgbClr val="8A1125"/>
                </a:solidFill>
                <a:latin typeface="Barlow Condensed"/>
                <a:ea typeface="Barlow Condensed"/>
                <a:cs typeface="Barlow Condensed"/>
                <a:sym typeface="Barlow Condensed"/>
              </a:rPr>
              <a:t>NM</a:t>
            </a:r>
            <a:endParaRPr b="0" i="0" sz="9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8"/>
          <p:cNvSpPr/>
          <p:nvPr/>
        </p:nvSpPr>
        <p:spPr>
          <a:xfrm>
            <a:off x="404812" y="1278657"/>
            <a:ext cx="3223543" cy="12196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Clr>
                <a:srgbClr val="8A1125"/>
              </a:buClr>
              <a:buSzPts val="800"/>
              <a:buFont typeface="IBM Plex Mono SemiBold"/>
              <a:buNone/>
            </a:pPr>
            <a:r>
              <a:rPr b="0" i="0" lang="en-US" sz="800" u="none" cap="none" strike="noStrike">
                <a:solidFill>
                  <a:srgbClr val="8A1125"/>
                </a:solidFill>
                <a:latin typeface="IBM Plex Mono SemiBold"/>
                <a:ea typeface="IBM Plex Mono SemiBold"/>
                <a:cs typeface="IBM Plex Mono SemiBold"/>
                <a:sym typeface="IBM Plex Mono SemiBold"/>
              </a:rPr>
              <a:t>ABOUT NANOTECHNOLOGY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0" name="Google Shape;70;p8"/>
          <p:cNvSpPr/>
          <p:nvPr/>
        </p:nvSpPr>
        <p:spPr>
          <a:xfrm>
            <a:off x="404812" y="1457771"/>
            <a:ext cx="2766343" cy="7771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123B4A"/>
              </a:buClr>
              <a:buSzPts val="2900"/>
              <a:buFont typeface="Barlow Condensed"/>
              <a:buNone/>
            </a:pPr>
            <a:r>
              <a:rPr b="1" i="0" lang="en-US" sz="2900" u="none" cap="none" strike="noStrike">
                <a:solidFill>
                  <a:srgbClr val="123B4A"/>
                </a:solidFill>
                <a:latin typeface="Barlow Condensed"/>
                <a:ea typeface="Barlow Condensed"/>
                <a:cs typeface="Barlow Condensed"/>
                <a:sym typeface="Barlow Condensed"/>
              </a:rPr>
              <a:t>Small structures.</a:t>
            </a:r>
            <a:endParaRPr b="0" i="0" sz="2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123B4A"/>
              </a:buClr>
              <a:buSzPts val="2900"/>
              <a:buFont typeface="Barlow Condensed"/>
              <a:buNone/>
            </a:pPr>
            <a:r>
              <a:rPr b="1" i="0" lang="en-US" sz="2900" u="none" cap="none" strike="noStrike">
                <a:solidFill>
                  <a:srgbClr val="123B4A"/>
                </a:solidFill>
                <a:latin typeface="Barlow Condensed"/>
                <a:ea typeface="Barlow Condensed"/>
                <a:cs typeface="Barlow Condensed"/>
                <a:sym typeface="Barlow Condensed"/>
              </a:rPr>
              <a:t>Different behavior.</a:t>
            </a:r>
            <a:endParaRPr b="0" i="0" sz="2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1" name="Google Shape;71;p8"/>
          <p:cNvSpPr/>
          <p:nvPr/>
        </p:nvSpPr>
        <p:spPr>
          <a:xfrm>
            <a:off x="404812" y="2415927"/>
            <a:ext cx="691530" cy="28575"/>
          </a:xfrm>
          <a:prstGeom prst="roundRect">
            <a:avLst>
              <a:gd fmla="val 50000" name="adj"/>
            </a:avLst>
          </a:prstGeom>
          <a:solidFill>
            <a:srgbClr val="8A112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2" name="Google Shape;72;p8"/>
          <p:cNvSpPr/>
          <p:nvPr/>
        </p:nvSpPr>
        <p:spPr>
          <a:xfrm>
            <a:off x="404812" y="2611189"/>
            <a:ext cx="2766343" cy="61257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rgbClr val="244B59"/>
              </a:buClr>
              <a:buSzPts val="1200"/>
              <a:buFont typeface="IBM Plex Sans"/>
              <a:buNone/>
            </a:pPr>
            <a:r>
              <a:rPr b="0" i="0" lang="en-US" sz="1200" u="none" cap="none" strike="noStrike">
                <a:solidFill>
                  <a:srgbClr val="244B59"/>
                </a:solidFill>
                <a:latin typeface="IBM Plex Sans"/>
                <a:ea typeface="IBM Plex Sans"/>
                <a:cs typeface="IBM Plex Sans"/>
                <a:sym typeface="IBM Plex Sans"/>
              </a:rPr>
              <a:t>At the nanoscale, matter can differ from bulk materials, single atoms, and molecules in useful ways.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73" name="Google Shape;73;p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399755" y="176213"/>
            <a:ext cx="5568032" cy="4149998"/>
          </a:xfrm>
          <a:prstGeom prst="rect">
            <a:avLst/>
          </a:prstGeom>
          <a:noFill/>
          <a:ln>
            <a:noFill/>
          </a:ln>
        </p:spPr>
      </p:pic>
      <p:sp>
        <p:nvSpPr>
          <p:cNvPr id="74" name="Google Shape;74;p8"/>
          <p:cNvSpPr/>
          <p:nvPr/>
        </p:nvSpPr>
        <p:spPr>
          <a:xfrm>
            <a:off x="4763" y="4440510"/>
            <a:ext cx="9134475" cy="4763"/>
          </a:xfrm>
          <a:prstGeom prst="rect">
            <a:avLst/>
          </a:prstGeom>
          <a:solidFill>
            <a:srgbClr val="8A112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5" name="Google Shape;75;p8"/>
          <p:cNvSpPr/>
          <p:nvPr/>
        </p:nvSpPr>
        <p:spPr>
          <a:xfrm>
            <a:off x="404812" y="4731023"/>
            <a:ext cx="2930500" cy="12196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Clr>
                <a:srgbClr val="55595E"/>
              </a:buClr>
              <a:buSzPts val="800"/>
              <a:buFont typeface="IBM Plex Mono Medium"/>
              <a:buNone/>
            </a:pPr>
            <a:r>
              <a:rPr b="0" i="0" lang="en-US" sz="800" u="none" cap="none" strike="noStrike">
                <a:solidFill>
                  <a:srgbClr val="55595E"/>
                </a:solidFill>
                <a:latin typeface="IBM Plex Mono Medium"/>
                <a:ea typeface="IBM Plex Mono Medium"/>
                <a:cs typeface="IBM Plex Mono Medium"/>
                <a:sym typeface="IBM Plex Mono Medium"/>
              </a:rPr>
              <a:t>STRONGER / MAGNETIC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6" name="Google Shape;76;p8"/>
          <p:cNvSpPr/>
          <p:nvPr/>
        </p:nvSpPr>
        <p:spPr>
          <a:xfrm>
            <a:off x="3723233" y="4731023"/>
            <a:ext cx="1697385" cy="12196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Clr>
                <a:srgbClr val="55595E"/>
              </a:buClr>
              <a:buSzPts val="800"/>
              <a:buFont typeface="IBM Plex Mono Medium"/>
              <a:buNone/>
            </a:pPr>
            <a:r>
              <a:rPr b="0" i="0" lang="en-US" sz="800" u="none" cap="none" strike="noStrike">
                <a:solidFill>
                  <a:srgbClr val="55595E"/>
                </a:solidFill>
                <a:latin typeface="IBM Plex Mono Medium"/>
                <a:ea typeface="IBM Plex Mono Medium"/>
                <a:cs typeface="IBM Plex Mono Medium"/>
                <a:sym typeface="IBM Plex Mono Medium"/>
              </a:rPr>
              <a:t>THERMAL / ELECTRICAL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7" name="Google Shape;77;p8"/>
          <p:cNvSpPr/>
          <p:nvPr/>
        </p:nvSpPr>
        <p:spPr>
          <a:xfrm>
            <a:off x="7165777" y="4731023"/>
            <a:ext cx="1573337" cy="12196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Clr>
                <a:srgbClr val="55595E"/>
              </a:buClr>
              <a:buSzPts val="800"/>
              <a:buFont typeface="IBM Plex Mono Medium"/>
              <a:buNone/>
            </a:pPr>
            <a:r>
              <a:rPr b="0" i="0" lang="en-US" sz="800" u="none" cap="none" strike="noStrike">
                <a:solidFill>
                  <a:srgbClr val="55595E"/>
                </a:solidFill>
                <a:latin typeface="IBM Plex Mono Medium"/>
                <a:ea typeface="IBM Plex Mono Medium"/>
                <a:cs typeface="IBM Plex Mono Medium"/>
                <a:sym typeface="IBM Plex Mono Medium"/>
              </a:rPr>
              <a:t>REACTIVE / OPTICAL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8" name="Google Shape;78;p8"/>
          <p:cNvSpPr/>
          <p:nvPr/>
        </p:nvSpPr>
        <p:spPr>
          <a:xfrm>
            <a:off x="4763" y="4435748"/>
            <a:ext cx="9134475" cy="9525"/>
          </a:xfrm>
          <a:prstGeom prst="rect">
            <a:avLst/>
          </a:prstGeom>
          <a:solidFill>
            <a:srgbClr val="8A112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9"/>
          <p:cNvSpPr/>
          <p:nvPr/>
        </p:nvSpPr>
        <p:spPr>
          <a:xfrm>
            <a:off x="290513" y="271463"/>
            <a:ext cx="8853488" cy="12196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Clr>
                <a:srgbClr val="8A1125"/>
              </a:buClr>
              <a:buSzPts val="800"/>
              <a:buFont typeface="IBM Plex Mono SemiBold"/>
              <a:buNone/>
            </a:pPr>
            <a:r>
              <a:rPr b="0" i="0" lang="en-US" sz="800" u="none" cap="none" strike="noStrike">
                <a:solidFill>
                  <a:srgbClr val="8A1125"/>
                </a:solidFill>
                <a:latin typeface="IBM Plex Mono SemiBold"/>
                <a:ea typeface="IBM Plex Mono SemiBold"/>
                <a:cs typeface="IBM Plex Mono SemiBold"/>
                <a:sym typeface="IBM Plex Mono SemiBold"/>
              </a:rPr>
              <a:t>NANOMANUFACTURING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5" name="Google Shape;85;p9"/>
          <p:cNvSpPr/>
          <p:nvPr/>
        </p:nvSpPr>
        <p:spPr>
          <a:xfrm>
            <a:off x="290513" y="450577"/>
            <a:ext cx="8524875" cy="7771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123B4A"/>
              </a:buClr>
              <a:buSzPts val="2900"/>
              <a:buFont typeface="Barlow Condensed"/>
              <a:buNone/>
            </a:pPr>
            <a:r>
              <a:rPr b="1" i="0" lang="en-US" sz="2900" u="none" cap="none" strike="noStrike">
                <a:solidFill>
                  <a:srgbClr val="123B4A"/>
                </a:solidFill>
                <a:latin typeface="Barlow Condensed"/>
                <a:ea typeface="Barlow Condensed"/>
                <a:cs typeface="Barlow Condensed"/>
                <a:sym typeface="Barlow Condensed"/>
              </a:rPr>
              <a:t>Making nano useful means</a:t>
            </a:r>
            <a:endParaRPr b="0" i="0" sz="2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123B4A"/>
              </a:buClr>
              <a:buSzPts val="2900"/>
              <a:buFont typeface="Barlow Condensed"/>
              <a:buNone/>
            </a:pPr>
            <a:r>
              <a:rPr b="1" i="0" lang="en-US" sz="2900" u="none" cap="none" strike="noStrike">
                <a:solidFill>
                  <a:srgbClr val="123B4A"/>
                </a:solidFill>
                <a:latin typeface="Barlow Condensed"/>
                <a:ea typeface="Barlow Condensed"/>
                <a:cs typeface="Barlow Condensed"/>
                <a:sym typeface="Barlow Condensed"/>
              </a:rPr>
              <a:t>making it repeatable.</a:t>
            </a:r>
            <a:endParaRPr b="0" i="0" sz="2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6" name="Google Shape;86;p9"/>
          <p:cNvSpPr/>
          <p:nvPr/>
        </p:nvSpPr>
        <p:spPr>
          <a:xfrm>
            <a:off x="290513" y="1370633"/>
            <a:ext cx="8524875" cy="40838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rgbClr val="244B59"/>
              </a:buClr>
              <a:buSzPts val="1200"/>
              <a:buFont typeface="IBM Plex Sans"/>
              <a:buNone/>
            </a:pPr>
            <a:r>
              <a:rPr b="0" i="0" lang="en-US" sz="1200" u="none" cap="none" strike="noStrike">
                <a:solidFill>
                  <a:srgbClr val="244B59"/>
                </a:solidFill>
                <a:latin typeface="IBM Plex Sans"/>
                <a:ea typeface="IBM Plex Sans"/>
                <a:cs typeface="IBM Plex Sans"/>
                <a:sym typeface="IBM Plex Sans"/>
              </a:rPr>
              <a:t>Nanomanufacturing is the scaled-up, reliable, and cost-effective production of nanoscale materials, structures, devices, and systems.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7" name="Google Shape;87;p9"/>
          <p:cNvSpPr/>
          <p:nvPr/>
        </p:nvSpPr>
        <p:spPr>
          <a:xfrm>
            <a:off x="290513" y="1907604"/>
            <a:ext cx="640110" cy="15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Clr>
                <a:srgbClr val="8A1125"/>
              </a:buClr>
              <a:buSzPts val="1200"/>
              <a:buFont typeface="IBM Plex Sans SemiBold"/>
              <a:buNone/>
            </a:pPr>
            <a:r>
              <a:rPr b="0" i="0" lang="en-US" sz="1200" u="none" cap="none" strike="noStrike">
                <a:solidFill>
                  <a:srgbClr val="8A1125"/>
                </a:solidFill>
                <a:latin typeface="IBM Plex Sans SemiBold"/>
                <a:ea typeface="IBM Plex Sans SemiBold"/>
                <a:cs typeface="IBM Plex Sans SemiBold"/>
                <a:sym typeface="IBM Plex Sans SemiBold"/>
              </a:rPr>
              <a:t>01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8" name="Google Shape;88;p9"/>
          <p:cNvSpPr/>
          <p:nvPr/>
        </p:nvSpPr>
        <p:spPr>
          <a:xfrm>
            <a:off x="290513" y="2120950"/>
            <a:ext cx="1959694" cy="14288"/>
          </a:xfrm>
          <a:prstGeom prst="rect">
            <a:avLst/>
          </a:prstGeom>
          <a:solidFill>
            <a:srgbClr val="8A112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9" name="Google Shape;89;p9"/>
          <p:cNvSpPr/>
          <p:nvPr/>
        </p:nvSpPr>
        <p:spPr>
          <a:xfrm>
            <a:off x="290513" y="2226618"/>
            <a:ext cx="1959769" cy="21371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123B4A"/>
              </a:buClr>
              <a:buSzPts val="1600"/>
              <a:buFont typeface="Barlow Condensed"/>
              <a:buNone/>
            </a:pPr>
            <a:r>
              <a:rPr b="1" i="0" lang="en-US" sz="1600" u="none" cap="none" strike="noStrike">
                <a:solidFill>
                  <a:srgbClr val="123B4A"/>
                </a:solidFill>
                <a:latin typeface="Barlow Condensed"/>
                <a:ea typeface="Barlow Condensed"/>
                <a:cs typeface="Barlow Condensed"/>
                <a:sym typeface="Barlow Condensed"/>
              </a:rPr>
              <a:t>Define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0" name="Google Shape;90;p9"/>
          <p:cNvSpPr/>
          <p:nvPr/>
        </p:nvSpPr>
        <p:spPr>
          <a:xfrm>
            <a:off x="290513" y="2542729"/>
            <a:ext cx="1959769" cy="40838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rgbClr val="244B59"/>
              </a:buClr>
              <a:buSzPts val="1200"/>
              <a:buFont typeface="IBM Plex Sans"/>
              <a:buNone/>
            </a:pPr>
            <a:r>
              <a:rPr b="0" i="0" lang="en-US" sz="1200" u="none" cap="none" strike="noStrike">
                <a:solidFill>
                  <a:srgbClr val="244B59"/>
                </a:solidFill>
                <a:latin typeface="IBM Plex Sans"/>
                <a:ea typeface="IBM Plex Sans"/>
                <a:cs typeface="IBM Plex Sans"/>
                <a:sym typeface="IBM Plex Sans"/>
              </a:rPr>
              <a:t>Specify the target size, surface, or structure.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1" name="Google Shape;91;p9"/>
          <p:cNvSpPr/>
          <p:nvPr/>
        </p:nvSpPr>
        <p:spPr>
          <a:xfrm>
            <a:off x="2593181" y="1907604"/>
            <a:ext cx="640110" cy="15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Clr>
                <a:srgbClr val="8A1125"/>
              </a:buClr>
              <a:buSzPts val="1200"/>
              <a:buFont typeface="IBM Plex Sans SemiBold"/>
              <a:buNone/>
            </a:pPr>
            <a:r>
              <a:rPr b="0" i="0" lang="en-US" sz="1200" u="none" cap="none" strike="noStrike">
                <a:solidFill>
                  <a:srgbClr val="8A1125"/>
                </a:solidFill>
                <a:latin typeface="IBM Plex Sans SemiBold"/>
                <a:ea typeface="IBM Plex Sans SemiBold"/>
                <a:cs typeface="IBM Plex Sans SemiBold"/>
                <a:sym typeface="IBM Plex Sans SemiBold"/>
              </a:rPr>
              <a:t>02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2" name="Google Shape;92;p9"/>
          <p:cNvSpPr/>
          <p:nvPr/>
        </p:nvSpPr>
        <p:spPr>
          <a:xfrm>
            <a:off x="2593181" y="2120950"/>
            <a:ext cx="1788244" cy="14288"/>
          </a:xfrm>
          <a:prstGeom prst="rect">
            <a:avLst/>
          </a:prstGeom>
          <a:solidFill>
            <a:srgbClr val="8A112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3" name="Google Shape;93;p9"/>
          <p:cNvSpPr/>
          <p:nvPr/>
        </p:nvSpPr>
        <p:spPr>
          <a:xfrm>
            <a:off x="2593181" y="2226618"/>
            <a:ext cx="1788319" cy="21371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123B4A"/>
              </a:buClr>
              <a:buSzPts val="1600"/>
              <a:buFont typeface="Barlow Condensed"/>
              <a:buNone/>
            </a:pPr>
            <a:r>
              <a:rPr b="1" i="0" lang="en-US" sz="1600" u="none" cap="none" strike="noStrike">
                <a:solidFill>
                  <a:srgbClr val="123B4A"/>
                </a:solidFill>
                <a:latin typeface="Barlow Condensed"/>
                <a:ea typeface="Barlow Condensed"/>
                <a:cs typeface="Barlow Condensed"/>
                <a:sym typeface="Barlow Condensed"/>
              </a:rPr>
              <a:t>Build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4" name="Google Shape;94;p9"/>
          <p:cNvSpPr/>
          <p:nvPr/>
        </p:nvSpPr>
        <p:spPr>
          <a:xfrm>
            <a:off x="2593181" y="2542729"/>
            <a:ext cx="1788319" cy="61257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rgbClr val="244B59"/>
              </a:buClr>
              <a:buSzPts val="1200"/>
              <a:buFont typeface="IBM Plex Sans"/>
              <a:buNone/>
            </a:pPr>
            <a:r>
              <a:rPr b="0" i="0" lang="en-US" sz="1200" u="none" cap="none" strike="noStrike">
                <a:solidFill>
                  <a:srgbClr val="244B59"/>
                </a:solidFill>
                <a:latin typeface="IBM Plex Sans"/>
                <a:ea typeface="IBM Plex Sans"/>
                <a:cs typeface="IBM Plex Sans"/>
                <a:sym typeface="IBM Plex Sans"/>
              </a:rPr>
              <a:t>Use top-down patterning or bottom-up self-assembly.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5" name="Google Shape;95;p9"/>
          <p:cNvSpPr/>
          <p:nvPr/>
        </p:nvSpPr>
        <p:spPr>
          <a:xfrm>
            <a:off x="4724400" y="1907604"/>
            <a:ext cx="640110" cy="15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Clr>
                <a:srgbClr val="8A1125"/>
              </a:buClr>
              <a:buSzPts val="1200"/>
              <a:buFont typeface="IBM Plex Sans SemiBold"/>
              <a:buNone/>
            </a:pPr>
            <a:r>
              <a:rPr b="0" i="0" lang="en-US" sz="1200" u="none" cap="none" strike="noStrike">
                <a:solidFill>
                  <a:srgbClr val="8A1125"/>
                </a:solidFill>
                <a:latin typeface="IBM Plex Sans SemiBold"/>
                <a:ea typeface="IBM Plex Sans SemiBold"/>
                <a:cs typeface="IBM Plex Sans SemiBold"/>
                <a:sym typeface="IBM Plex Sans SemiBold"/>
              </a:rPr>
              <a:t>03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6" name="Google Shape;96;p9"/>
          <p:cNvSpPr/>
          <p:nvPr/>
        </p:nvSpPr>
        <p:spPr>
          <a:xfrm>
            <a:off x="4724400" y="2120950"/>
            <a:ext cx="1788244" cy="14288"/>
          </a:xfrm>
          <a:prstGeom prst="rect">
            <a:avLst/>
          </a:prstGeom>
          <a:solidFill>
            <a:srgbClr val="8A112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7" name="Google Shape;97;p9"/>
          <p:cNvSpPr/>
          <p:nvPr/>
        </p:nvSpPr>
        <p:spPr>
          <a:xfrm>
            <a:off x="4724400" y="2226618"/>
            <a:ext cx="1788319" cy="21371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123B4A"/>
              </a:buClr>
              <a:buSzPts val="1600"/>
              <a:buFont typeface="Barlow Condensed"/>
              <a:buNone/>
            </a:pPr>
            <a:r>
              <a:rPr b="1" i="0" lang="en-US" sz="1600" u="none" cap="none" strike="noStrike">
                <a:solidFill>
                  <a:srgbClr val="123B4A"/>
                </a:solidFill>
                <a:latin typeface="Barlow Condensed"/>
                <a:ea typeface="Barlow Condensed"/>
                <a:cs typeface="Barlow Condensed"/>
                <a:sym typeface="Barlow Condensed"/>
              </a:rPr>
              <a:t>Control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8" name="Google Shape;98;p9"/>
          <p:cNvSpPr/>
          <p:nvPr/>
        </p:nvSpPr>
        <p:spPr>
          <a:xfrm>
            <a:off x="4724400" y="2542729"/>
            <a:ext cx="1788319" cy="40838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rgbClr val="244B59"/>
              </a:buClr>
              <a:buSzPts val="1200"/>
              <a:buFont typeface="IBM Plex Sans"/>
              <a:buNone/>
            </a:pPr>
            <a:r>
              <a:rPr b="0" i="0" lang="en-US" sz="1200" u="none" cap="none" strike="noStrike">
                <a:solidFill>
                  <a:srgbClr val="244B59"/>
                </a:solidFill>
                <a:latin typeface="IBM Plex Sans"/>
                <a:ea typeface="IBM Plex Sans"/>
                <a:cs typeface="IBM Plex Sans"/>
                <a:sym typeface="IBM Plex Sans"/>
              </a:rPr>
              <a:t>Hold quality, yield, and safety across batches.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9" name="Google Shape;99;p9"/>
          <p:cNvSpPr/>
          <p:nvPr/>
        </p:nvSpPr>
        <p:spPr>
          <a:xfrm>
            <a:off x="6855619" y="1907604"/>
            <a:ext cx="640110" cy="15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Clr>
                <a:srgbClr val="8A1125"/>
              </a:buClr>
              <a:buSzPts val="1200"/>
              <a:buFont typeface="IBM Plex Sans SemiBold"/>
              <a:buNone/>
            </a:pPr>
            <a:r>
              <a:rPr b="0" i="0" lang="en-US" sz="1200" u="none" cap="none" strike="noStrike">
                <a:solidFill>
                  <a:srgbClr val="8A1125"/>
                </a:solidFill>
                <a:latin typeface="IBM Plex Sans SemiBold"/>
                <a:ea typeface="IBM Plex Sans SemiBold"/>
                <a:cs typeface="IBM Plex Sans SemiBold"/>
                <a:sym typeface="IBM Plex Sans SemiBold"/>
              </a:rPr>
              <a:t>04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0" name="Google Shape;100;p9"/>
          <p:cNvSpPr/>
          <p:nvPr/>
        </p:nvSpPr>
        <p:spPr>
          <a:xfrm>
            <a:off x="6855619" y="2120950"/>
            <a:ext cx="1959694" cy="14288"/>
          </a:xfrm>
          <a:prstGeom prst="rect">
            <a:avLst/>
          </a:prstGeom>
          <a:solidFill>
            <a:srgbClr val="8A112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1" name="Google Shape;101;p9"/>
          <p:cNvSpPr/>
          <p:nvPr/>
        </p:nvSpPr>
        <p:spPr>
          <a:xfrm>
            <a:off x="6855619" y="2226618"/>
            <a:ext cx="1959769" cy="21371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123B4A"/>
              </a:buClr>
              <a:buSzPts val="1600"/>
              <a:buFont typeface="Barlow Condensed"/>
              <a:buNone/>
            </a:pPr>
            <a:r>
              <a:rPr b="1" i="0" lang="en-US" sz="1600" u="none" cap="none" strike="noStrike">
                <a:solidFill>
                  <a:srgbClr val="123B4A"/>
                </a:solidFill>
                <a:latin typeface="Barlow Condensed"/>
                <a:ea typeface="Barlow Condensed"/>
                <a:cs typeface="Barlow Condensed"/>
                <a:sym typeface="Barlow Condensed"/>
              </a:rPr>
              <a:t>Integrate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2" name="Google Shape;102;p9"/>
          <p:cNvSpPr/>
          <p:nvPr/>
        </p:nvSpPr>
        <p:spPr>
          <a:xfrm>
            <a:off x="6855619" y="2542729"/>
            <a:ext cx="1959769" cy="40838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rgbClr val="244B59"/>
              </a:buClr>
              <a:buSzPts val="1200"/>
              <a:buFont typeface="IBM Plex Sans"/>
              <a:buNone/>
            </a:pPr>
            <a:r>
              <a:rPr b="0" i="0" lang="en-US" sz="1200" u="none" cap="none" strike="noStrike">
                <a:solidFill>
                  <a:srgbClr val="244B59"/>
                </a:solidFill>
                <a:latin typeface="IBM Plex Sans"/>
                <a:ea typeface="IBM Plex Sans"/>
                <a:cs typeface="IBM Plex Sans"/>
                <a:sym typeface="IBM Plex Sans"/>
              </a:rPr>
              <a:t>Fit the material into a working product system.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3" name="Google Shape;103;p9"/>
          <p:cNvSpPr/>
          <p:nvPr/>
        </p:nvSpPr>
        <p:spPr>
          <a:xfrm>
            <a:off x="290513" y="3283893"/>
            <a:ext cx="8853488" cy="12196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Clr>
                <a:srgbClr val="55595E"/>
              </a:buClr>
              <a:buSzPts val="800"/>
              <a:buFont typeface="IBM Plex Mono Medium"/>
              <a:buNone/>
            </a:pPr>
            <a:r>
              <a:rPr b="0" i="0" lang="en-US" sz="800" u="none" cap="none" strike="noStrike">
                <a:solidFill>
                  <a:srgbClr val="55595E"/>
                </a:solidFill>
                <a:latin typeface="IBM Plex Mono Medium"/>
                <a:ea typeface="IBM Plex Mono Medium"/>
                <a:cs typeface="IBM Plex Mono Medium"/>
                <a:sym typeface="IBM Plex Mono Medium"/>
              </a:rPr>
              <a:t>TOP-DOWN · CARVE OR ETCH   |   BOTTOM-UP · BUILD OR SELF-ASSEMBLE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4" name="Google Shape;104;p9"/>
          <p:cNvSpPr/>
          <p:nvPr/>
        </p:nvSpPr>
        <p:spPr>
          <a:xfrm>
            <a:off x="2416969" y="1907604"/>
            <a:ext cx="9525" cy="1247701"/>
          </a:xfrm>
          <a:prstGeom prst="rect">
            <a:avLst/>
          </a:prstGeom>
          <a:solidFill>
            <a:srgbClr val="8A112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5" name="Google Shape;105;p9"/>
          <p:cNvSpPr/>
          <p:nvPr/>
        </p:nvSpPr>
        <p:spPr>
          <a:xfrm>
            <a:off x="4548188" y="1907604"/>
            <a:ext cx="9525" cy="1247701"/>
          </a:xfrm>
          <a:prstGeom prst="rect">
            <a:avLst/>
          </a:prstGeom>
          <a:solidFill>
            <a:srgbClr val="8A112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6" name="Google Shape;106;p9"/>
          <p:cNvSpPr/>
          <p:nvPr/>
        </p:nvSpPr>
        <p:spPr>
          <a:xfrm>
            <a:off x="6679406" y="1907604"/>
            <a:ext cx="9525" cy="1247701"/>
          </a:xfrm>
          <a:prstGeom prst="rect">
            <a:avLst/>
          </a:prstGeom>
          <a:solidFill>
            <a:srgbClr val="8A112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p10"/>
          <p:cNvSpPr/>
          <p:nvPr/>
        </p:nvSpPr>
        <p:spPr>
          <a:xfrm>
            <a:off x="228600" y="228600"/>
            <a:ext cx="8915400" cy="12196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Clr>
                <a:srgbClr val="8A1125"/>
              </a:buClr>
              <a:buSzPts val="800"/>
              <a:buFont typeface="IBM Plex Mono SemiBold"/>
              <a:buNone/>
            </a:pPr>
            <a:r>
              <a:rPr b="0" i="0" lang="en-US" sz="800" u="none" cap="none" strike="noStrike">
                <a:solidFill>
                  <a:srgbClr val="8A1125"/>
                </a:solidFill>
                <a:latin typeface="IBM Plex Mono SemiBold"/>
                <a:ea typeface="IBM Plex Mono SemiBold"/>
                <a:cs typeface="IBM Plex Mono SemiBold"/>
                <a:sym typeface="IBM Plex Mono SemiBold"/>
              </a:rPr>
              <a:t>APPLICATION LANDSCAPE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3" name="Google Shape;113;p10"/>
          <p:cNvSpPr/>
          <p:nvPr/>
        </p:nvSpPr>
        <p:spPr>
          <a:xfrm>
            <a:off x="228600" y="407715"/>
            <a:ext cx="8686800" cy="3885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123B4A"/>
              </a:buClr>
              <a:buSzPts val="2900"/>
              <a:buFont typeface="Barlow Condensed"/>
              <a:buNone/>
            </a:pPr>
            <a:r>
              <a:rPr b="1" i="0" lang="en-US" sz="2900" u="none" cap="none" strike="noStrike">
                <a:solidFill>
                  <a:srgbClr val="123B4A"/>
                </a:solidFill>
                <a:latin typeface="Barlow Condensed"/>
                <a:ea typeface="Barlow Condensed"/>
                <a:cs typeface="Barlow Condensed"/>
                <a:sym typeface="Barlow Condensed"/>
              </a:rPr>
              <a:t>Real-world value appears across four application zones</a:t>
            </a:r>
            <a:endParaRPr b="0" i="0" sz="2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114" name="Google Shape;114;p1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28600" y="939180"/>
            <a:ext cx="381000" cy="381000"/>
          </a:xfrm>
          <a:prstGeom prst="rect">
            <a:avLst/>
          </a:prstGeom>
          <a:noFill/>
          <a:ln>
            <a:noFill/>
          </a:ln>
        </p:spPr>
      </p:pic>
      <p:sp>
        <p:nvSpPr>
          <p:cNvPr id="115" name="Google Shape;115;p10"/>
          <p:cNvSpPr/>
          <p:nvPr/>
        </p:nvSpPr>
        <p:spPr>
          <a:xfrm>
            <a:off x="228600" y="1403524"/>
            <a:ext cx="4171950" cy="21371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123B4A"/>
              </a:buClr>
              <a:buSzPts val="1600"/>
              <a:buFont typeface="Barlow Condensed"/>
              <a:buNone/>
            </a:pPr>
            <a:r>
              <a:rPr b="1" i="0" lang="en-US" sz="1600" u="none" cap="none" strike="noStrike">
                <a:solidFill>
                  <a:srgbClr val="123B4A"/>
                </a:solidFill>
                <a:latin typeface="Barlow Condensed"/>
                <a:ea typeface="Barlow Condensed"/>
                <a:cs typeface="Barlow Condensed"/>
                <a:sym typeface="Barlow Condensed"/>
              </a:rPr>
              <a:t>Healthcare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6" name="Google Shape;116;p10"/>
          <p:cNvSpPr/>
          <p:nvPr/>
        </p:nvSpPr>
        <p:spPr>
          <a:xfrm>
            <a:off x="228600" y="1719635"/>
            <a:ext cx="4171950" cy="61257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rgbClr val="244B59"/>
              </a:buClr>
              <a:buSzPts val="1200"/>
              <a:buFont typeface="IBM Plex Sans"/>
              <a:buNone/>
            </a:pPr>
            <a:r>
              <a:rPr b="0" i="0" lang="en-US" sz="1200" u="none" cap="none" strike="noStrike">
                <a:solidFill>
                  <a:srgbClr val="244B59"/>
                </a:solidFill>
                <a:latin typeface="IBM Plex Sans"/>
                <a:ea typeface="IBM Plex Sans"/>
                <a:cs typeface="IBM Plex Sans"/>
                <a:sym typeface="IBM Plex Sans"/>
              </a:rPr>
              <a:t>Targeted delivery, diagnostics, imaging, and antimicrobial surfaces. Value is paid through better outcomes, earlier detection, or cleaner care.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117" name="Google Shape;117;p1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743450" y="939180"/>
            <a:ext cx="381000" cy="381000"/>
          </a:xfrm>
          <a:prstGeom prst="rect">
            <a:avLst/>
          </a:prstGeom>
          <a:noFill/>
          <a:ln>
            <a:noFill/>
          </a:ln>
        </p:spPr>
      </p:pic>
      <p:sp>
        <p:nvSpPr>
          <p:cNvPr id="118" name="Google Shape;118;p10"/>
          <p:cNvSpPr/>
          <p:nvPr/>
        </p:nvSpPr>
        <p:spPr>
          <a:xfrm>
            <a:off x="4743450" y="1403524"/>
            <a:ext cx="4171950" cy="21371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123B4A"/>
              </a:buClr>
              <a:buSzPts val="1600"/>
              <a:buFont typeface="Barlow Condensed"/>
              <a:buNone/>
            </a:pPr>
            <a:r>
              <a:rPr b="1" i="0" lang="en-US" sz="1600" u="none" cap="none" strike="noStrike">
                <a:solidFill>
                  <a:srgbClr val="123B4A"/>
                </a:solidFill>
                <a:latin typeface="Barlow Condensed"/>
                <a:ea typeface="Barlow Condensed"/>
                <a:cs typeface="Barlow Condensed"/>
                <a:sym typeface="Barlow Condensed"/>
              </a:rPr>
              <a:t>Electronics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9" name="Google Shape;119;p10"/>
          <p:cNvSpPr/>
          <p:nvPr/>
        </p:nvSpPr>
        <p:spPr>
          <a:xfrm>
            <a:off x="4743450" y="1719635"/>
            <a:ext cx="4171950" cy="61257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rgbClr val="244B59"/>
              </a:buClr>
              <a:buSzPts val="1200"/>
              <a:buFont typeface="IBM Plex Sans"/>
              <a:buNone/>
            </a:pPr>
            <a:r>
              <a:rPr b="0" i="0" lang="en-US" sz="1200" u="none" cap="none" strike="noStrike">
                <a:solidFill>
                  <a:srgbClr val="244B59"/>
                </a:solidFill>
                <a:latin typeface="IBM Plex Sans"/>
                <a:ea typeface="IBM Plex Sans"/>
                <a:cs typeface="IBM Plex Sans"/>
                <a:sym typeface="IBM Plex Sans"/>
              </a:rPr>
              <a:t>Smaller features, conductive nanomaterials, sensors, and quantum devices. Value is paid through function per device and per unit area.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120" name="Google Shape;120;p10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228600" y="3098453"/>
            <a:ext cx="381000" cy="381000"/>
          </a:xfrm>
          <a:prstGeom prst="rect">
            <a:avLst/>
          </a:prstGeom>
          <a:noFill/>
          <a:ln>
            <a:noFill/>
          </a:ln>
        </p:spPr>
      </p:pic>
      <p:sp>
        <p:nvSpPr>
          <p:cNvPr id="121" name="Google Shape;121;p10"/>
          <p:cNvSpPr/>
          <p:nvPr/>
        </p:nvSpPr>
        <p:spPr>
          <a:xfrm>
            <a:off x="228600" y="3562796"/>
            <a:ext cx="4171950" cy="21371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123B4A"/>
              </a:buClr>
              <a:buSzPts val="1600"/>
              <a:buFont typeface="Barlow Condensed"/>
              <a:buNone/>
            </a:pPr>
            <a:r>
              <a:rPr b="1" i="0" lang="en-US" sz="1600" u="none" cap="none" strike="noStrike">
                <a:solidFill>
                  <a:srgbClr val="123B4A"/>
                </a:solidFill>
                <a:latin typeface="Barlow Condensed"/>
                <a:ea typeface="Barlow Condensed"/>
                <a:cs typeface="Barlow Condensed"/>
                <a:sym typeface="Barlow Condensed"/>
              </a:rPr>
              <a:t>Energy &amp; environment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2" name="Google Shape;122;p10"/>
          <p:cNvSpPr/>
          <p:nvPr/>
        </p:nvSpPr>
        <p:spPr>
          <a:xfrm>
            <a:off x="228600" y="3878907"/>
            <a:ext cx="4171950" cy="61257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rgbClr val="244B59"/>
              </a:buClr>
              <a:buSzPts val="1200"/>
              <a:buFont typeface="IBM Plex Sans"/>
              <a:buNone/>
            </a:pPr>
            <a:r>
              <a:rPr b="0" i="0" lang="en-US" sz="1200" u="none" cap="none" strike="noStrike">
                <a:solidFill>
                  <a:srgbClr val="244B59"/>
                </a:solidFill>
                <a:latin typeface="IBM Plex Sans"/>
                <a:ea typeface="IBM Plex Sans"/>
                <a:cs typeface="IBM Plex Sans"/>
                <a:sym typeface="IBM Plex Sans"/>
              </a:rPr>
              <a:t>Catalysts, membranes, coatings, batteries, and solar materials. Value is paid through efficiency, selectivity, and resource savings.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123" name="Google Shape;123;p10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4743450" y="3098453"/>
            <a:ext cx="381000" cy="381000"/>
          </a:xfrm>
          <a:prstGeom prst="rect">
            <a:avLst/>
          </a:prstGeom>
          <a:noFill/>
          <a:ln>
            <a:noFill/>
          </a:ln>
        </p:spPr>
      </p:pic>
      <p:sp>
        <p:nvSpPr>
          <p:cNvPr id="124" name="Google Shape;124;p10"/>
          <p:cNvSpPr/>
          <p:nvPr/>
        </p:nvSpPr>
        <p:spPr>
          <a:xfrm>
            <a:off x="4743450" y="3562796"/>
            <a:ext cx="4171950" cy="21371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123B4A"/>
              </a:buClr>
              <a:buSzPts val="1600"/>
              <a:buFont typeface="Barlow Condensed"/>
              <a:buNone/>
            </a:pPr>
            <a:r>
              <a:rPr b="1" i="0" lang="en-US" sz="1600" u="none" cap="none" strike="noStrike">
                <a:solidFill>
                  <a:srgbClr val="123B4A"/>
                </a:solidFill>
                <a:latin typeface="Barlow Condensed"/>
                <a:ea typeface="Barlow Condensed"/>
                <a:cs typeface="Barlow Condensed"/>
                <a:sym typeface="Barlow Condensed"/>
              </a:rPr>
              <a:t>Consumer &amp; industrial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5" name="Google Shape;125;p10"/>
          <p:cNvSpPr/>
          <p:nvPr/>
        </p:nvSpPr>
        <p:spPr>
          <a:xfrm>
            <a:off x="4743450" y="3878907"/>
            <a:ext cx="4171950" cy="61257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rgbClr val="244B59"/>
              </a:buClr>
              <a:buSzPts val="1200"/>
              <a:buFont typeface="IBM Plex Sans"/>
              <a:buNone/>
            </a:pPr>
            <a:r>
              <a:rPr b="0" i="0" lang="en-US" sz="1200" u="none" cap="none" strike="noStrike">
                <a:solidFill>
                  <a:srgbClr val="244B59"/>
                </a:solidFill>
                <a:latin typeface="IBM Plex Sans"/>
                <a:ea typeface="IBM Plex Sans"/>
                <a:cs typeface="IBM Plex Sans"/>
                <a:sym typeface="IBM Plex Sans"/>
              </a:rPr>
              <a:t>Stronger composites, scratch-resistant coatings, pigments, and filtration. Value is paid through durability, quality, and lower maintenance.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6" name="Google Shape;126;p10"/>
          <p:cNvSpPr/>
          <p:nvPr/>
        </p:nvSpPr>
        <p:spPr>
          <a:xfrm>
            <a:off x="4567238" y="939180"/>
            <a:ext cx="9525" cy="1987823"/>
          </a:xfrm>
          <a:prstGeom prst="rect">
            <a:avLst/>
          </a:prstGeom>
          <a:solidFill>
            <a:srgbClr val="A0A3A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7" name="Google Shape;127;p10"/>
          <p:cNvSpPr/>
          <p:nvPr/>
        </p:nvSpPr>
        <p:spPr>
          <a:xfrm>
            <a:off x="228600" y="2922240"/>
            <a:ext cx="4343400" cy="9525"/>
          </a:xfrm>
          <a:prstGeom prst="rect">
            <a:avLst/>
          </a:prstGeom>
          <a:solidFill>
            <a:srgbClr val="A0A3A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8" name="Google Shape;128;p10"/>
          <p:cNvSpPr/>
          <p:nvPr/>
        </p:nvSpPr>
        <p:spPr>
          <a:xfrm>
            <a:off x="4567238" y="2927003"/>
            <a:ext cx="9525" cy="1987897"/>
          </a:xfrm>
          <a:prstGeom prst="rect">
            <a:avLst/>
          </a:prstGeom>
          <a:solidFill>
            <a:srgbClr val="A0A3A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9" name="Google Shape;129;p10"/>
          <p:cNvSpPr/>
          <p:nvPr/>
        </p:nvSpPr>
        <p:spPr>
          <a:xfrm>
            <a:off x="4572000" y="2922240"/>
            <a:ext cx="4343400" cy="9525"/>
          </a:xfrm>
          <a:prstGeom prst="rect">
            <a:avLst/>
          </a:prstGeom>
          <a:solidFill>
            <a:srgbClr val="A0A3A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p11"/>
          <p:cNvSpPr/>
          <p:nvPr/>
        </p:nvSpPr>
        <p:spPr>
          <a:xfrm>
            <a:off x="304800" y="247650"/>
            <a:ext cx="8839200" cy="12196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Clr>
                <a:srgbClr val="8A1125"/>
              </a:buClr>
              <a:buSzPts val="800"/>
              <a:buFont typeface="IBM Plex Mono SemiBold"/>
              <a:buNone/>
            </a:pPr>
            <a:r>
              <a:rPr b="0" i="0" lang="en-US" sz="800" u="none" cap="none" strike="noStrike">
                <a:solidFill>
                  <a:srgbClr val="8A1125"/>
                </a:solidFill>
                <a:latin typeface="IBM Plex Mono SemiBold"/>
                <a:ea typeface="IBM Plex Mono SemiBold"/>
                <a:cs typeface="IBM Plex Mono SemiBold"/>
                <a:sym typeface="IBM Plex Mono SemiBold"/>
              </a:rPr>
              <a:t>USE-CASE CARDS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6" name="Google Shape;136;p11"/>
          <p:cNvSpPr/>
          <p:nvPr/>
        </p:nvSpPr>
        <p:spPr>
          <a:xfrm>
            <a:off x="304800" y="426765"/>
            <a:ext cx="8534400" cy="3885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123B4A"/>
              </a:buClr>
              <a:buSzPts val="2950"/>
              <a:buFont typeface="Barlow Condensed"/>
              <a:buNone/>
            </a:pPr>
            <a:r>
              <a:rPr b="1" i="0" lang="en-US" sz="2950" u="none" cap="none" strike="noStrike">
                <a:solidFill>
                  <a:srgbClr val="123B4A"/>
                </a:solidFill>
                <a:latin typeface="Barlow Condensed"/>
                <a:ea typeface="Barlow Condensed"/>
                <a:cs typeface="Barlow Condensed"/>
                <a:sym typeface="Barlow Condensed"/>
              </a:rPr>
              <a:t>Three use cases show how nano earns its place</a:t>
            </a:r>
            <a:endParaRPr b="0" i="0" sz="2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7" name="Google Shape;137;p11"/>
          <p:cNvSpPr/>
          <p:nvPr/>
        </p:nvSpPr>
        <p:spPr>
          <a:xfrm>
            <a:off x="476250" y="1095449"/>
            <a:ext cx="640110" cy="15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Clr>
                <a:srgbClr val="8A1125"/>
              </a:buClr>
              <a:buSzPts val="1200"/>
              <a:buFont typeface="IBM Plex Sans SemiBold"/>
              <a:buNone/>
            </a:pPr>
            <a:r>
              <a:rPr b="0" i="0" lang="en-US" sz="1200" u="none" cap="none" strike="noStrike">
                <a:solidFill>
                  <a:srgbClr val="8A1125"/>
                </a:solidFill>
                <a:latin typeface="IBM Plex Sans SemiBold"/>
                <a:ea typeface="IBM Plex Sans SemiBold"/>
                <a:cs typeface="IBM Plex Sans SemiBold"/>
                <a:sym typeface="IBM Plex Sans SemiBold"/>
              </a:rPr>
              <a:t>01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8" name="Google Shape;138;p11"/>
          <p:cNvSpPr/>
          <p:nvPr/>
        </p:nvSpPr>
        <p:spPr>
          <a:xfrm>
            <a:off x="811560" y="1110630"/>
            <a:ext cx="2623765" cy="12196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Clr>
                <a:srgbClr val="8A1125"/>
              </a:buClr>
              <a:buSzPts val="800"/>
              <a:buFont typeface="IBM Plex Mono SemiBold"/>
              <a:buNone/>
            </a:pPr>
            <a:r>
              <a:rPr b="0" i="0" lang="en-US" sz="800" u="none" cap="none" strike="noStrike">
                <a:solidFill>
                  <a:srgbClr val="8A1125"/>
                </a:solidFill>
                <a:latin typeface="IBM Plex Mono SemiBold"/>
                <a:ea typeface="IBM Plex Mono SemiBold"/>
                <a:cs typeface="IBM Plex Mono SemiBold"/>
                <a:sym typeface="IBM Plex Mono SemiBold"/>
              </a:rPr>
              <a:t>MEDICINE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9" name="Google Shape;139;p11"/>
          <p:cNvSpPr/>
          <p:nvPr/>
        </p:nvSpPr>
        <p:spPr>
          <a:xfrm>
            <a:off x="811560" y="1289745"/>
            <a:ext cx="2166565" cy="42743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123B4A"/>
              </a:buClr>
              <a:buSzPts val="1600"/>
              <a:buFont typeface="Barlow Condensed"/>
              <a:buNone/>
            </a:pPr>
            <a:r>
              <a:rPr b="1" i="0" lang="en-US" sz="1600" u="none" cap="none" strike="noStrike">
                <a:solidFill>
                  <a:srgbClr val="123B4A"/>
                </a:solidFill>
                <a:latin typeface="Barlow Condensed"/>
                <a:ea typeface="Barlow Condensed"/>
                <a:cs typeface="Barlow Condensed"/>
                <a:sym typeface="Barlow Condensed"/>
              </a:rPr>
              <a:t>Move the therapy.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123B4A"/>
              </a:buClr>
              <a:buSzPts val="1600"/>
              <a:buFont typeface="Barlow Condensed"/>
              <a:buNone/>
            </a:pPr>
            <a:r>
              <a:rPr b="1" i="0" lang="en-US" sz="1600" u="none" cap="none" strike="noStrike">
                <a:solidFill>
                  <a:srgbClr val="123B4A"/>
                </a:solidFill>
                <a:latin typeface="Barlow Condensed"/>
                <a:ea typeface="Barlow Condensed"/>
                <a:cs typeface="Barlow Condensed"/>
                <a:sym typeface="Barlow Condensed"/>
              </a:rPr>
              <a:t>Find the signal.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0" name="Google Shape;140;p11"/>
          <p:cNvSpPr/>
          <p:nvPr/>
        </p:nvSpPr>
        <p:spPr>
          <a:xfrm>
            <a:off x="811560" y="1819573"/>
            <a:ext cx="2166565" cy="159603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rgbClr val="244B59"/>
              </a:buClr>
              <a:buSzPts val="1200"/>
              <a:buFont typeface="IBM Plex Sans"/>
              <a:buNone/>
            </a:pPr>
            <a:r>
              <a:rPr b="1" i="0" lang="en-US" sz="1200" u="none" cap="none" strike="noStrike">
                <a:solidFill>
                  <a:srgbClr val="244B59"/>
                </a:solidFill>
                <a:latin typeface="IBM Plex Sans"/>
                <a:ea typeface="IBM Plex Sans"/>
                <a:cs typeface="IBM Plex Sans"/>
                <a:sym typeface="IBM Plex Sans"/>
              </a:rPr>
              <a:t>Problem:</a:t>
            </a:r>
            <a:r>
              <a:rPr b="0" i="0" lang="en-US" sz="1200" u="none" cap="none" strike="noStrike">
                <a:solidFill>
                  <a:srgbClr val="244B59"/>
                </a:solidFill>
                <a:latin typeface="IBM Plex Sans"/>
                <a:ea typeface="IBM Plex Sans"/>
                <a:cs typeface="IBM Plex Sans"/>
                <a:sym typeface="IBM Plex Sans"/>
              </a:rPr>
              <a:t> treatment or detection can lack selectivity.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2000"/>
              </a:lnSpc>
              <a:spcBef>
                <a:spcPts val="650"/>
              </a:spcBef>
              <a:spcAft>
                <a:spcPts val="0"/>
              </a:spcAft>
              <a:buClr>
                <a:srgbClr val="244B59"/>
              </a:buClr>
              <a:buSzPts val="1200"/>
              <a:buFont typeface="IBM Plex Sans"/>
              <a:buNone/>
            </a:pPr>
            <a:r>
              <a:rPr b="1" i="0" lang="en-US" sz="1200" u="none" cap="none" strike="noStrike">
                <a:solidFill>
                  <a:srgbClr val="244B59"/>
                </a:solidFill>
                <a:latin typeface="IBM Plex Sans"/>
                <a:ea typeface="IBM Plex Sans"/>
                <a:cs typeface="IBM Plex Sans"/>
                <a:sym typeface="IBM Plex Sans"/>
              </a:rPr>
              <a:t>Mechanism:</a:t>
            </a:r>
            <a:r>
              <a:rPr b="0" i="0" lang="en-US" sz="1200" u="none" cap="none" strike="noStrike">
                <a:solidFill>
                  <a:srgbClr val="244B59"/>
                </a:solidFill>
                <a:latin typeface="IBM Plex Sans"/>
                <a:ea typeface="IBM Plex Sans"/>
                <a:cs typeface="IBM Plex Sans"/>
                <a:sym typeface="IBM Plex Sans"/>
              </a:rPr>
              <a:t> tune particle size and surface chemistry.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2000"/>
              </a:lnSpc>
              <a:spcBef>
                <a:spcPts val="650"/>
              </a:spcBef>
              <a:spcAft>
                <a:spcPts val="0"/>
              </a:spcAft>
              <a:buClr>
                <a:srgbClr val="244B59"/>
              </a:buClr>
              <a:buSzPts val="1200"/>
              <a:buFont typeface="IBM Plex Sans"/>
              <a:buNone/>
            </a:pPr>
            <a:r>
              <a:rPr b="1" i="0" lang="en-US" sz="1200" u="none" cap="none" strike="noStrike">
                <a:solidFill>
                  <a:srgbClr val="244B59"/>
                </a:solidFill>
                <a:latin typeface="IBM Plex Sans"/>
                <a:ea typeface="IBM Plex Sans"/>
                <a:cs typeface="IBM Plex Sans"/>
                <a:sym typeface="IBM Plex Sans"/>
              </a:rPr>
              <a:t>Value:</a:t>
            </a:r>
            <a:r>
              <a:rPr b="0" i="0" lang="en-US" sz="1200" u="none" cap="none" strike="noStrike">
                <a:solidFill>
                  <a:srgbClr val="244B59"/>
                </a:solidFill>
                <a:latin typeface="IBM Plex Sans"/>
                <a:ea typeface="IBM Plex Sans"/>
                <a:cs typeface="IBM Plex Sans"/>
                <a:sym typeface="IBM Plex Sans"/>
              </a:rPr>
              <a:t> improve where therapy travels or what a diagnostic detects.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1" name="Google Shape;141;p11"/>
          <p:cNvSpPr/>
          <p:nvPr/>
        </p:nvSpPr>
        <p:spPr>
          <a:xfrm>
            <a:off x="811560" y="3498949"/>
            <a:ext cx="2166565" cy="36589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Clr>
                <a:srgbClr val="55595E"/>
              </a:buClr>
              <a:buSzPts val="800"/>
              <a:buFont typeface="IBM Plex Mono Medium"/>
              <a:buNone/>
            </a:pPr>
            <a:r>
              <a:rPr b="0" i="0" lang="en-US" sz="800" u="none" cap="none" strike="noStrike">
                <a:solidFill>
                  <a:srgbClr val="55595E"/>
                </a:solidFill>
                <a:latin typeface="IBM Plex Mono Medium"/>
                <a:ea typeface="IBM Plex Mono Medium"/>
                <a:cs typeface="IBM Plex Mono Medium"/>
                <a:sym typeface="IBM Plex Mono Medium"/>
              </a:rPr>
              <a:t>HURDLE · safety, clinical evidence, and reproducible formulation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2" name="Google Shape;142;p11"/>
          <p:cNvSpPr/>
          <p:nvPr/>
        </p:nvSpPr>
        <p:spPr>
          <a:xfrm>
            <a:off x="3321025" y="1095449"/>
            <a:ext cx="640110" cy="15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Clr>
                <a:srgbClr val="8A1125"/>
              </a:buClr>
              <a:buSzPts val="1200"/>
              <a:buFont typeface="IBM Plex Sans SemiBold"/>
              <a:buNone/>
            </a:pPr>
            <a:r>
              <a:rPr b="0" i="0" lang="en-US" sz="1200" u="none" cap="none" strike="noStrike">
                <a:solidFill>
                  <a:srgbClr val="8A1125"/>
                </a:solidFill>
                <a:latin typeface="IBM Plex Sans SemiBold"/>
                <a:ea typeface="IBM Plex Sans SemiBold"/>
                <a:cs typeface="IBM Plex Sans SemiBold"/>
                <a:sym typeface="IBM Plex Sans SemiBold"/>
              </a:rPr>
              <a:t>02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3" name="Google Shape;143;p11"/>
          <p:cNvSpPr/>
          <p:nvPr/>
        </p:nvSpPr>
        <p:spPr>
          <a:xfrm>
            <a:off x="3656335" y="1110630"/>
            <a:ext cx="2623765" cy="12196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Clr>
                <a:srgbClr val="8A1125"/>
              </a:buClr>
              <a:buSzPts val="800"/>
              <a:buFont typeface="IBM Plex Mono SemiBold"/>
              <a:buNone/>
            </a:pPr>
            <a:r>
              <a:rPr b="0" i="0" lang="en-US" sz="800" u="none" cap="none" strike="noStrike">
                <a:solidFill>
                  <a:srgbClr val="8A1125"/>
                </a:solidFill>
                <a:latin typeface="IBM Plex Mono SemiBold"/>
                <a:ea typeface="IBM Plex Mono SemiBold"/>
                <a:cs typeface="IBM Plex Mono SemiBold"/>
                <a:sym typeface="IBM Plex Mono SemiBold"/>
              </a:rPr>
              <a:t>ELECTRONICS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4" name="Google Shape;144;p11"/>
          <p:cNvSpPr/>
          <p:nvPr/>
        </p:nvSpPr>
        <p:spPr>
          <a:xfrm>
            <a:off x="3656335" y="1289745"/>
            <a:ext cx="2166565" cy="42743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123B4A"/>
              </a:buClr>
              <a:buSzPts val="1600"/>
              <a:buFont typeface="Barlow Condensed"/>
              <a:buNone/>
            </a:pPr>
            <a:r>
              <a:rPr b="1" i="0" lang="en-US" sz="1600" u="none" cap="none" strike="noStrike">
                <a:solidFill>
                  <a:srgbClr val="123B4A"/>
                </a:solidFill>
                <a:latin typeface="Barlow Condensed"/>
                <a:ea typeface="Barlow Condensed"/>
                <a:cs typeface="Barlow Condensed"/>
                <a:sym typeface="Barlow Condensed"/>
              </a:rPr>
              <a:t>Pack more function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123B4A"/>
              </a:buClr>
              <a:buSzPts val="1600"/>
              <a:buFont typeface="Barlow Condensed"/>
              <a:buNone/>
            </a:pPr>
            <a:r>
              <a:rPr b="1" i="0" lang="en-US" sz="1600" u="none" cap="none" strike="noStrike">
                <a:solidFill>
                  <a:srgbClr val="123B4A"/>
                </a:solidFill>
                <a:latin typeface="Barlow Condensed"/>
                <a:ea typeface="Barlow Condensed"/>
                <a:cs typeface="Barlow Condensed"/>
                <a:sym typeface="Barlow Condensed"/>
              </a:rPr>
              <a:t>into less space.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5" name="Google Shape;145;p11"/>
          <p:cNvSpPr/>
          <p:nvPr/>
        </p:nvSpPr>
        <p:spPr>
          <a:xfrm>
            <a:off x="3656335" y="1819573"/>
            <a:ext cx="2166565" cy="18002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rgbClr val="244B59"/>
              </a:buClr>
              <a:buSzPts val="1200"/>
              <a:buFont typeface="IBM Plex Sans"/>
              <a:buNone/>
            </a:pPr>
            <a:r>
              <a:rPr b="1" i="0" lang="en-US" sz="1200" u="none" cap="none" strike="noStrike">
                <a:solidFill>
                  <a:srgbClr val="244B59"/>
                </a:solidFill>
                <a:latin typeface="IBM Plex Sans"/>
                <a:ea typeface="IBM Plex Sans"/>
                <a:cs typeface="IBM Plex Sans"/>
                <a:sym typeface="IBM Plex Sans"/>
              </a:rPr>
              <a:t>Problem:</a:t>
            </a:r>
            <a:r>
              <a:rPr b="0" i="0" lang="en-US" sz="1200" u="none" cap="none" strike="noStrike">
                <a:solidFill>
                  <a:srgbClr val="244B59"/>
                </a:solidFill>
                <a:latin typeface="IBM Plex Sans"/>
                <a:ea typeface="IBM Plex Sans"/>
                <a:cs typeface="IBM Plex Sans"/>
                <a:sym typeface="IBM Plex Sans"/>
              </a:rPr>
              <a:t> device area and sensing limits constrain function.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2000"/>
              </a:lnSpc>
              <a:spcBef>
                <a:spcPts val="650"/>
              </a:spcBef>
              <a:spcAft>
                <a:spcPts val="0"/>
              </a:spcAft>
              <a:buClr>
                <a:srgbClr val="244B59"/>
              </a:buClr>
              <a:buSzPts val="1200"/>
              <a:buFont typeface="IBM Plex Sans"/>
              <a:buNone/>
            </a:pPr>
            <a:r>
              <a:rPr b="1" i="0" lang="en-US" sz="1200" u="none" cap="none" strike="noStrike">
                <a:solidFill>
                  <a:srgbClr val="244B59"/>
                </a:solidFill>
                <a:latin typeface="IBM Plex Sans"/>
                <a:ea typeface="IBM Plex Sans"/>
                <a:cs typeface="IBM Plex Sans"/>
                <a:sym typeface="IBM Plex Sans"/>
              </a:rPr>
              <a:t>Mechanism:</a:t>
            </a:r>
            <a:r>
              <a:rPr b="0" i="0" lang="en-US" sz="1200" u="none" cap="none" strike="noStrike">
                <a:solidFill>
                  <a:srgbClr val="244B59"/>
                </a:solidFill>
                <a:latin typeface="IBM Plex Sans"/>
                <a:ea typeface="IBM Plex Sans"/>
                <a:cs typeface="IBM Plex Sans"/>
                <a:sym typeface="IBM Plex Sans"/>
              </a:rPr>
              <a:t> engineer nanoscale structures and conductive materials.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2000"/>
              </a:lnSpc>
              <a:spcBef>
                <a:spcPts val="650"/>
              </a:spcBef>
              <a:spcAft>
                <a:spcPts val="0"/>
              </a:spcAft>
              <a:buClr>
                <a:srgbClr val="244B59"/>
              </a:buClr>
              <a:buSzPts val="1200"/>
              <a:buFont typeface="IBM Plex Sans"/>
              <a:buNone/>
            </a:pPr>
            <a:r>
              <a:rPr b="1" i="0" lang="en-US" sz="1200" u="none" cap="none" strike="noStrike">
                <a:solidFill>
                  <a:srgbClr val="244B59"/>
                </a:solidFill>
                <a:latin typeface="IBM Plex Sans"/>
                <a:ea typeface="IBM Plex Sans"/>
                <a:cs typeface="IBM Plex Sans"/>
                <a:sym typeface="IBM Plex Sans"/>
              </a:rPr>
              <a:t>Value:</a:t>
            </a:r>
            <a:r>
              <a:rPr b="0" i="0" lang="en-US" sz="1200" u="none" cap="none" strike="noStrike">
                <a:solidFill>
                  <a:srgbClr val="244B59"/>
                </a:solidFill>
                <a:latin typeface="IBM Plex Sans"/>
                <a:ea typeface="IBM Plex Sans"/>
                <a:cs typeface="IBM Plex Sans"/>
                <a:sym typeface="IBM Plex Sans"/>
              </a:rPr>
              <a:t> smaller devices or a stronger response to a target.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6" name="Google Shape;146;p11"/>
          <p:cNvSpPr/>
          <p:nvPr/>
        </p:nvSpPr>
        <p:spPr>
          <a:xfrm>
            <a:off x="3656335" y="3703141"/>
            <a:ext cx="2166565" cy="24392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Clr>
                <a:srgbClr val="55595E"/>
              </a:buClr>
              <a:buSzPts val="800"/>
              <a:buFont typeface="IBM Plex Mono Medium"/>
              <a:buNone/>
            </a:pPr>
            <a:r>
              <a:rPr b="0" i="0" lang="en-US" sz="800" u="none" cap="none" strike="noStrike">
                <a:solidFill>
                  <a:srgbClr val="55595E"/>
                </a:solidFill>
                <a:latin typeface="IBM Plex Mono Medium"/>
                <a:ea typeface="IBM Plex Mono Medium"/>
                <a:cs typeface="IBM Plex Mono Medium"/>
                <a:sym typeface="IBM Plex Mono Medium"/>
              </a:rPr>
              <a:t>HURDLE · integration, yield, and qualification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7" name="Google Shape;147;p11"/>
          <p:cNvSpPr/>
          <p:nvPr/>
        </p:nvSpPr>
        <p:spPr>
          <a:xfrm>
            <a:off x="6165800" y="1095449"/>
            <a:ext cx="640110" cy="15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Clr>
                <a:srgbClr val="8A1125"/>
              </a:buClr>
              <a:buSzPts val="1200"/>
              <a:buFont typeface="IBM Plex Sans SemiBold"/>
              <a:buNone/>
            </a:pPr>
            <a:r>
              <a:rPr b="0" i="0" lang="en-US" sz="1200" u="none" cap="none" strike="noStrike">
                <a:solidFill>
                  <a:srgbClr val="8A1125"/>
                </a:solidFill>
                <a:latin typeface="IBM Plex Sans SemiBold"/>
                <a:ea typeface="IBM Plex Sans SemiBold"/>
                <a:cs typeface="IBM Plex Sans SemiBold"/>
                <a:sym typeface="IBM Plex Sans SemiBold"/>
              </a:rPr>
              <a:t>03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8" name="Google Shape;148;p11"/>
          <p:cNvSpPr/>
          <p:nvPr/>
        </p:nvSpPr>
        <p:spPr>
          <a:xfrm>
            <a:off x="6501110" y="1110630"/>
            <a:ext cx="2623765" cy="12196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Clr>
                <a:srgbClr val="8A1125"/>
              </a:buClr>
              <a:buSzPts val="800"/>
              <a:buFont typeface="IBM Plex Mono SemiBold"/>
              <a:buNone/>
            </a:pPr>
            <a:r>
              <a:rPr b="0" i="0" lang="en-US" sz="800" u="none" cap="none" strike="noStrike">
                <a:solidFill>
                  <a:srgbClr val="8A1125"/>
                </a:solidFill>
                <a:latin typeface="IBM Plex Mono SemiBold"/>
                <a:ea typeface="IBM Plex Mono SemiBold"/>
                <a:cs typeface="IBM Plex Mono SemiBold"/>
                <a:sym typeface="IBM Plex Mono SemiBold"/>
              </a:rPr>
              <a:t>WATER &amp; ENERGY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9" name="Google Shape;149;p11"/>
          <p:cNvSpPr/>
          <p:nvPr/>
        </p:nvSpPr>
        <p:spPr>
          <a:xfrm>
            <a:off x="6501110" y="1289745"/>
            <a:ext cx="2166565" cy="42743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123B4A"/>
              </a:buClr>
              <a:buSzPts val="1600"/>
              <a:buFont typeface="Barlow Condensed"/>
              <a:buNone/>
            </a:pPr>
            <a:r>
              <a:rPr b="1" i="0" lang="en-US" sz="1600" u="none" cap="none" strike="noStrike">
                <a:solidFill>
                  <a:srgbClr val="123B4A"/>
                </a:solidFill>
                <a:latin typeface="Barlow Condensed"/>
                <a:ea typeface="Barlow Condensed"/>
                <a:cs typeface="Barlow Condensed"/>
                <a:sym typeface="Barlow Condensed"/>
              </a:rPr>
              <a:t>Separate.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123B4A"/>
              </a:buClr>
              <a:buSzPts val="1600"/>
              <a:buFont typeface="Barlow Condensed"/>
              <a:buNone/>
            </a:pPr>
            <a:r>
              <a:rPr b="1" i="0" lang="en-US" sz="1600" u="none" cap="none" strike="noStrike">
                <a:solidFill>
                  <a:srgbClr val="123B4A"/>
                </a:solidFill>
                <a:latin typeface="Barlow Condensed"/>
                <a:ea typeface="Barlow Condensed"/>
                <a:cs typeface="Barlow Condensed"/>
                <a:sym typeface="Barlow Condensed"/>
              </a:rPr>
              <a:t>Convert. Repeat.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0" name="Google Shape;150;p11"/>
          <p:cNvSpPr/>
          <p:nvPr/>
        </p:nvSpPr>
        <p:spPr>
          <a:xfrm>
            <a:off x="6501110" y="1819573"/>
            <a:ext cx="2166565" cy="200441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rgbClr val="244B59"/>
              </a:buClr>
              <a:buSzPts val="1200"/>
              <a:buFont typeface="IBM Plex Sans"/>
              <a:buNone/>
            </a:pPr>
            <a:r>
              <a:rPr b="1" i="0" lang="en-US" sz="1200" u="none" cap="none" strike="noStrike">
                <a:solidFill>
                  <a:srgbClr val="244B59"/>
                </a:solidFill>
                <a:latin typeface="IBM Plex Sans"/>
                <a:ea typeface="IBM Plex Sans"/>
                <a:cs typeface="IBM Plex Sans"/>
                <a:sym typeface="IBM Plex Sans"/>
              </a:rPr>
              <a:t>Problem:</a:t>
            </a:r>
            <a:r>
              <a:rPr b="0" i="0" lang="en-US" sz="1200" u="none" cap="none" strike="noStrike">
                <a:solidFill>
                  <a:srgbClr val="244B59"/>
                </a:solidFill>
                <a:latin typeface="IBM Plex Sans"/>
                <a:ea typeface="IBM Plex Sans"/>
                <a:cs typeface="IBM Plex Sans"/>
                <a:sym typeface="IBM Plex Sans"/>
              </a:rPr>
              <a:t> conventional separation or conversion wastes energy.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2000"/>
              </a:lnSpc>
              <a:spcBef>
                <a:spcPts val="650"/>
              </a:spcBef>
              <a:spcAft>
                <a:spcPts val="0"/>
              </a:spcAft>
              <a:buClr>
                <a:srgbClr val="244B59"/>
              </a:buClr>
              <a:buSzPts val="1200"/>
              <a:buFont typeface="IBM Plex Sans"/>
              <a:buNone/>
            </a:pPr>
            <a:r>
              <a:rPr b="1" i="0" lang="en-US" sz="1200" u="none" cap="none" strike="noStrike">
                <a:solidFill>
                  <a:srgbClr val="244B59"/>
                </a:solidFill>
                <a:latin typeface="IBM Plex Sans"/>
                <a:ea typeface="IBM Plex Sans"/>
                <a:cs typeface="IBM Plex Sans"/>
                <a:sym typeface="IBM Plex Sans"/>
              </a:rPr>
              <a:t>Mechanism:</a:t>
            </a:r>
            <a:r>
              <a:rPr b="0" i="0" lang="en-US" sz="1200" u="none" cap="none" strike="noStrike">
                <a:solidFill>
                  <a:srgbClr val="244B59"/>
                </a:solidFill>
                <a:latin typeface="IBM Plex Sans"/>
                <a:ea typeface="IBM Plex Sans"/>
                <a:cs typeface="IBM Plex Sans"/>
                <a:sym typeface="IBM Plex Sans"/>
              </a:rPr>
              <a:t> use high surface area, selective pores, or catalytic surfaces.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2000"/>
              </a:lnSpc>
              <a:spcBef>
                <a:spcPts val="650"/>
              </a:spcBef>
              <a:spcAft>
                <a:spcPts val="0"/>
              </a:spcAft>
              <a:buClr>
                <a:srgbClr val="244B59"/>
              </a:buClr>
              <a:buSzPts val="1200"/>
              <a:buFont typeface="IBM Plex Sans"/>
              <a:buNone/>
            </a:pPr>
            <a:r>
              <a:rPr b="1" i="0" lang="en-US" sz="1200" u="none" cap="none" strike="noStrike">
                <a:solidFill>
                  <a:srgbClr val="244B59"/>
                </a:solidFill>
                <a:latin typeface="IBM Plex Sans"/>
                <a:ea typeface="IBM Plex Sans"/>
                <a:cs typeface="IBM Plex Sans"/>
                <a:sym typeface="IBM Plex Sans"/>
              </a:rPr>
              <a:t>Value:</a:t>
            </a:r>
            <a:r>
              <a:rPr b="0" i="0" lang="en-US" sz="1200" u="none" cap="none" strike="noStrike">
                <a:solidFill>
                  <a:srgbClr val="244B59"/>
                </a:solidFill>
                <a:latin typeface="IBM Plex Sans"/>
                <a:ea typeface="IBM Plex Sans"/>
                <a:cs typeface="IBM Plex Sans"/>
                <a:sym typeface="IBM Plex Sans"/>
              </a:rPr>
              <a:t> improve throughput, selectivity, or conversion efficiency.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1" name="Google Shape;151;p11"/>
          <p:cNvSpPr/>
          <p:nvPr/>
        </p:nvSpPr>
        <p:spPr>
          <a:xfrm>
            <a:off x="6501110" y="3907334"/>
            <a:ext cx="2166565" cy="24392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Clr>
                <a:srgbClr val="55595E"/>
              </a:buClr>
              <a:buSzPts val="800"/>
              <a:buFont typeface="IBM Plex Mono Medium"/>
              <a:buNone/>
            </a:pPr>
            <a:r>
              <a:rPr b="0" i="0" lang="en-US" sz="800" u="none" cap="none" strike="noStrike">
                <a:solidFill>
                  <a:srgbClr val="55595E"/>
                </a:solidFill>
                <a:latin typeface="IBM Plex Mono Medium"/>
                <a:ea typeface="IBM Plex Mono Medium"/>
                <a:cs typeface="IBM Plex Mono Medium"/>
                <a:sym typeface="IBM Plex Mono Medium"/>
              </a:rPr>
              <a:t>HURDLE · fouling, lifetime, and operating cost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2" name="Google Shape;152;p11"/>
          <p:cNvSpPr/>
          <p:nvPr/>
        </p:nvSpPr>
        <p:spPr>
          <a:xfrm>
            <a:off x="3144813" y="958230"/>
            <a:ext cx="9525" cy="3880470"/>
          </a:xfrm>
          <a:prstGeom prst="rect">
            <a:avLst/>
          </a:prstGeom>
          <a:solidFill>
            <a:srgbClr val="8A112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3" name="Google Shape;153;p11"/>
          <p:cNvSpPr/>
          <p:nvPr/>
        </p:nvSpPr>
        <p:spPr>
          <a:xfrm>
            <a:off x="5989588" y="958230"/>
            <a:ext cx="9525" cy="3880470"/>
          </a:xfrm>
          <a:prstGeom prst="rect">
            <a:avLst/>
          </a:prstGeom>
          <a:solidFill>
            <a:srgbClr val="8A112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8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p12"/>
          <p:cNvSpPr/>
          <p:nvPr/>
        </p:nvSpPr>
        <p:spPr>
          <a:xfrm>
            <a:off x="290513" y="233363"/>
            <a:ext cx="8853488" cy="12196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Clr>
                <a:srgbClr val="8A1125"/>
              </a:buClr>
              <a:buSzPts val="800"/>
              <a:buFont typeface="IBM Plex Mono SemiBold"/>
              <a:buNone/>
            </a:pPr>
            <a:r>
              <a:rPr b="0" i="0" lang="en-US" sz="800" u="none" cap="none" strike="noStrike">
                <a:solidFill>
                  <a:srgbClr val="8A1125"/>
                </a:solidFill>
                <a:latin typeface="IBM Plex Mono SemiBold"/>
                <a:ea typeface="IBM Plex Mono SemiBold"/>
                <a:cs typeface="IBM Plex Mono SemiBold"/>
                <a:sym typeface="IBM Plex Mono SemiBold"/>
              </a:rPr>
              <a:t>TECHNO-ECONOMIC FUNNEL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0" name="Google Shape;160;p12"/>
          <p:cNvSpPr/>
          <p:nvPr/>
        </p:nvSpPr>
        <p:spPr>
          <a:xfrm>
            <a:off x="290513" y="412477"/>
            <a:ext cx="8562975" cy="7771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123B4A"/>
              </a:buClr>
              <a:buSzPts val="2900"/>
              <a:buFont typeface="Barlow Condensed"/>
              <a:buNone/>
            </a:pPr>
            <a:r>
              <a:rPr b="1" i="0" lang="en-US" sz="2900" u="none" cap="none" strike="noStrike">
                <a:solidFill>
                  <a:srgbClr val="123B4A"/>
                </a:solidFill>
                <a:latin typeface="Barlow Condensed"/>
                <a:ea typeface="Barlow Condensed"/>
                <a:cs typeface="Barlow Condensed"/>
                <a:sym typeface="Barlow Condensed"/>
              </a:rPr>
              <a:t>Economic feasibility is a scale-up problem,</a:t>
            </a:r>
            <a:endParaRPr b="0" i="0" sz="2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123B4A"/>
              </a:buClr>
              <a:buSzPts val="2900"/>
              <a:buFont typeface="Barlow Condensed"/>
              <a:buNone/>
            </a:pPr>
            <a:r>
              <a:rPr b="1" i="0" lang="en-US" sz="2900" u="none" cap="none" strike="noStrike">
                <a:solidFill>
                  <a:srgbClr val="123B4A"/>
                </a:solidFill>
                <a:latin typeface="Barlow Condensed"/>
                <a:ea typeface="Barlow Condensed"/>
                <a:cs typeface="Barlow Condensed"/>
                <a:sym typeface="Barlow Condensed"/>
              </a:rPr>
              <a:t>not just a lab problem</a:t>
            </a:r>
            <a:endParaRPr b="0" i="0" sz="2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1" name="Google Shape;161;p12"/>
          <p:cNvSpPr/>
          <p:nvPr/>
        </p:nvSpPr>
        <p:spPr>
          <a:xfrm>
            <a:off x="290513" y="1332533"/>
            <a:ext cx="8853488" cy="20419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rgbClr val="244B59"/>
              </a:buClr>
              <a:buSzPts val="1200"/>
              <a:buFont typeface="IBM Plex Sans"/>
              <a:buNone/>
            </a:pPr>
            <a:r>
              <a:rPr b="0" i="0" lang="en-US" sz="1200" u="none" cap="none" strike="noStrike">
                <a:solidFill>
                  <a:srgbClr val="244B59"/>
                </a:solidFill>
                <a:latin typeface="IBM Plex Sans"/>
                <a:ea typeface="IBM Plex Sans"/>
                <a:cs typeface="IBM Plex Sans"/>
                <a:sym typeface="IBM Plex Sans"/>
              </a:rPr>
              <a:t>Performance only creates value when it survives manufacturing, regulation, and customer qualification.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162" name="Google Shape;162;p1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11869" y="1665312"/>
            <a:ext cx="4238551" cy="765497"/>
          </a:xfrm>
          <a:prstGeom prst="rect">
            <a:avLst/>
          </a:prstGeom>
          <a:noFill/>
          <a:ln>
            <a:noFill/>
          </a:ln>
        </p:spPr>
      </p:pic>
      <p:sp>
        <p:nvSpPr>
          <p:cNvPr id="163" name="Google Shape;163;p12"/>
          <p:cNvSpPr/>
          <p:nvPr/>
        </p:nvSpPr>
        <p:spPr>
          <a:xfrm>
            <a:off x="2323951" y="1938784"/>
            <a:ext cx="214313" cy="21855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44B59"/>
              </a:buClr>
              <a:buSzPts val="1650"/>
              <a:buFont typeface="Barlow Condensed"/>
              <a:buNone/>
            </a:pPr>
            <a:r>
              <a:rPr b="1" i="0" lang="en-US" sz="1650" u="none" cap="none" strike="noStrike">
                <a:solidFill>
                  <a:srgbClr val="244B59"/>
                </a:solidFill>
                <a:latin typeface="Barlow Condensed"/>
                <a:ea typeface="Barlow Condensed"/>
                <a:cs typeface="Barlow Condensed"/>
                <a:sym typeface="Barlow Condensed"/>
              </a:rPr>
              <a:t>1</a:t>
            </a:r>
            <a:endParaRPr b="0" i="0" sz="16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4" name="Google Shape;164;p12"/>
          <p:cNvSpPr/>
          <p:nvPr/>
        </p:nvSpPr>
        <p:spPr>
          <a:xfrm>
            <a:off x="4702894" y="1817712"/>
            <a:ext cx="3998193" cy="1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244B59"/>
              </a:buClr>
              <a:buSzPts val="1250"/>
              <a:buFont typeface="Barlow Condensed"/>
              <a:buNone/>
            </a:pPr>
            <a:r>
              <a:rPr b="1" i="0" lang="en-US" sz="1250" u="none" cap="none" strike="noStrike">
                <a:solidFill>
                  <a:srgbClr val="244B59"/>
                </a:solidFill>
                <a:latin typeface="Barlow Condensed"/>
                <a:ea typeface="Barlow Condensed"/>
                <a:cs typeface="Barlow Condensed"/>
                <a:sym typeface="Barlow Condensed"/>
              </a:rPr>
              <a:t>Lab performance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5" name="Google Shape;165;p12"/>
          <p:cNvSpPr/>
          <p:nvPr/>
        </p:nvSpPr>
        <p:spPr>
          <a:xfrm>
            <a:off x="4702894" y="2074218"/>
            <a:ext cx="3998193" cy="20419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rgbClr val="244B59"/>
              </a:buClr>
              <a:buSzPts val="1200"/>
              <a:buFont typeface="IBM Plex Sans"/>
              <a:buNone/>
            </a:pPr>
            <a:r>
              <a:rPr b="0" i="0" lang="en-US" sz="1200" u="none" cap="none" strike="noStrike">
                <a:solidFill>
                  <a:srgbClr val="244B59"/>
                </a:solidFill>
                <a:latin typeface="IBM Plex Sans"/>
                <a:ea typeface="IBM Plex Sans"/>
                <a:cs typeface="IBM Plex Sans"/>
                <a:sym typeface="IBM Plex Sans"/>
              </a:rPr>
              <a:t>Does the nanoscale mechanism work?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166" name="Google Shape;166;p1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41697" y="2468910"/>
            <a:ext cx="3178969" cy="765497"/>
          </a:xfrm>
          <a:prstGeom prst="rect">
            <a:avLst/>
          </a:prstGeom>
          <a:noFill/>
          <a:ln>
            <a:noFill/>
          </a:ln>
        </p:spPr>
      </p:pic>
      <p:sp>
        <p:nvSpPr>
          <p:cNvPr id="167" name="Google Shape;167;p12"/>
          <p:cNvSpPr/>
          <p:nvPr/>
        </p:nvSpPr>
        <p:spPr>
          <a:xfrm>
            <a:off x="2323951" y="2742381"/>
            <a:ext cx="214313" cy="21855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44B59"/>
              </a:buClr>
              <a:buSzPts val="1650"/>
              <a:buFont typeface="Barlow Condensed"/>
              <a:buNone/>
            </a:pPr>
            <a:r>
              <a:rPr b="1" i="0" lang="en-US" sz="1650" u="none" cap="none" strike="noStrike">
                <a:solidFill>
                  <a:srgbClr val="244B59"/>
                </a:solidFill>
                <a:latin typeface="Barlow Condensed"/>
                <a:ea typeface="Barlow Condensed"/>
                <a:cs typeface="Barlow Condensed"/>
                <a:sym typeface="Barlow Condensed"/>
              </a:rPr>
              <a:t>2</a:t>
            </a:r>
            <a:endParaRPr b="0" i="0" sz="16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8" name="Google Shape;168;p12"/>
          <p:cNvSpPr/>
          <p:nvPr/>
        </p:nvSpPr>
        <p:spPr>
          <a:xfrm>
            <a:off x="4173066" y="2621310"/>
            <a:ext cx="4528021" cy="1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244B59"/>
              </a:buClr>
              <a:buSzPts val="1250"/>
              <a:buFont typeface="Barlow Condensed"/>
              <a:buNone/>
            </a:pPr>
            <a:r>
              <a:rPr b="1" i="0" lang="en-US" sz="1250" u="none" cap="none" strike="noStrike">
                <a:solidFill>
                  <a:srgbClr val="244B59"/>
                </a:solidFill>
                <a:latin typeface="Barlow Condensed"/>
                <a:ea typeface="Barlow Condensed"/>
                <a:cs typeface="Barlow Condensed"/>
                <a:sym typeface="Barlow Condensed"/>
              </a:rPr>
              <a:t>Throughput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9" name="Google Shape;169;p12"/>
          <p:cNvSpPr/>
          <p:nvPr/>
        </p:nvSpPr>
        <p:spPr>
          <a:xfrm>
            <a:off x="4173066" y="2877815"/>
            <a:ext cx="4528021" cy="20419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rgbClr val="244B59"/>
              </a:buClr>
              <a:buSzPts val="1200"/>
              <a:buFont typeface="IBM Plex Sans"/>
              <a:buNone/>
            </a:pPr>
            <a:r>
              <a:rPr b="0" i="0" lang="en-US" sz="1200" u="none" cap="none" strike="noStrike">
                <a:solidFill>
                  <a:srgbClr val="244B59"/>
                </a:solidFill>
                <a:latin typeface="IBM Plex Sans"/>
                <a:ea typeface="IBM Plex Sans"/>
                <a:cs typeface="IBM Plex Sans"/>
                <a:sym typeface="IBM Plex Sans"/>
              </a:rPr>
              <a:t>Can output rise without losing quality?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0" name="Google Shape;170;p12"/>
          <p:cNvSpPr/>
          <p:nvPr/>
        </p:nvSpPr>
        <p:spPr>
          <a:xfrm>
            <a:off x="4058766" y="2448074"/>
            <a:ext cx="4756621" cy="10716"/>
          </a:xfrm>
          <a:prstGeom prst="roundRect">
            <a:avLst>
              <a:gd fmla="val 49998" name="adj"/>
            </a:avLst>
          </a:prstGeom>
          <a:solidFill>
            <a:srgbClr val="C8BCC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71" name="Google Shape;171;p12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371526" y="3272507"/>
            <a:ext cx="2119238" cy="765497"/>
          </a:xfrm>
          <a:prstGeom prst="rect">
            <a:avLst/>
          </a:prstGeom>
          <a:noFill/>
          <a:ln>
            <a:noFill/>
          </a:ln>
        </p:spPr>
      </p:pic>
      <p:sp>
        <p:nvSpPr>
          <p:cNvPr id="172" name="Google Shape;172;p12"/>
          <p:cNvSpPr/>
          <p:nvPr/>
        </p:nvSpPr>
        <p:spPr>
          <a:xfrm>
            <a:off x="2323951" y="3545979"/>
            <a:ext cx="214313" cy="21855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44B59"/>
              </a:buClr>
              <a:buSzPts val="1650"/>
              <a:buFont typeface="Barlow Condensed"/>
              <a:buNone/>
            </a:pPr>
            <a:r>
              <a:rPr b="1" i="0" lang="en-US" sz="1650" u="none" cap="none" strike="noStrike">
                <a:solidFill>
                  <a:srgbClr val="244B59"/>
                </a:solidFill>
                <a:latin typeface="Barlow Condensed"/>
                <a:ea typeface="Barlow Condensed"/>
                <a:cs typeface="Barlow Condensed"/>
                <a:sym typeface="Barlow Condensed"/>
              </a:rPr>
              <a:t>3</a:t>
            </a:r>
            <a:endParaRPr b="0" i="0" sz="16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3" name="Google Shape;173;p12"/>
          <p:cNvSpPr/>
          <p:nvPr/>
        </p:nvSpPr>
        <p:spPr>
          <a:xfrm>
            <a:off x="3643238" y="3424907"/>
            <a:ext cx="5057849" cy="1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244B59"/>
              </a:buClr>
              <a:buSzPts val="1250"/>
              <a:buFont typeface="Barlow Condensed"/>
              <a:buNone/>
            </a:pPr>
            <a:r>
              <a:rPr b="1" i="0" lang="en-US" sz="1250" u="none" cap="none" strike="noStrike">
                <a:solidFill>
                  <a:srgbClr val="244B59"/>
                </a:solidFill>
                <a:latin typeface="Barlow Condensed"/>
                <a:ea typeface="Barlow Condensed"/>
                <a:cs typeface="Barlow Condensed"/>
                <a:sym typeface="Barlow Condensed"/>
              </a:rPr>
              <a:t>Unit economics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4" name="Google Shape;174;p12"/>
          <p:cNvSpPr/>
          <p:nvPr/>
        </p:nvSpPr>
        <p:spPr>
          <a:xfrm>
            <a:off x="3643238" y="3681413"/>
            <a:ext cx="5057849" cy="20419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rgbClr val="244B59"/>
              </a:buClr>
              <a:buSzPts val="1200"/>
              <a:buFont typeface="IBM Plex Sans"/>
              <a:buNone/>
            </a:pPr>
            <a:r>
              <a:rPr b="0" i="0" lang="en-US" sz="1200" u="none" cap="none" strike="noStrike">
                <a:solidFill>
                  <a:srgbClr val="244B59"/>
                </a:solidFill>
                <a:latin typeface="IBM Plex Sans"/>
                <a:ea typeface="IBM Plex Sans"/>
                <a:cs typeface="IBM Plex Sans"/>
                <a:sym typeface="IBM Plex Sans"/>
              </a:rPr>
              <a:t>Do materials, energy, yield, purification, QC, and waste fit?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5" name="Google Shape;175;p12"/>
          <p:cNvSpPr/>
          <p:nvPr/>
        </p:nvSpPr>
        <p:spPr>
          <a:xfrm>
            <a:off x="3528938" y="3251671"/>
            <a:ext cx="5286449" cy="10716"/>
          </a:xfrm>
          <a:prstGeom prst="roundRect">
            <a:avLst>
              <a:gd fmla="val 49998" name="adj"/>
            </a:avLst>
          </a:prstGeom>
          <a:solidFill>
            <a:srgbClr val="C8BCC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76" name="Google Shape;176;p12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1901354" y="4076105"/>
            <a:ext cx="1059582" cy="765497"/>
          </a:xfrm>
          <a:prstGeom prst="rect">
            <a:avLst/>
          </a:prstGeom>
          <a:noFill/>
          <a:ln>
            <a:noFill/>
          </a:ln>
        </p:spPr>
      </p:pic>
      <p:sp>
        <p:nvSpPr>
          <p:cNvPr id="177" name="Google Shape;177;p12"/>
          <p:cNvSpPr/>
          <p:nvPr/>
        </p:nvSpPr>
        <p:spPr>
          <a:xfrm>
            <a:off x="2324026" y="4257675"/>
            <a:ext cx="214313" cy="21855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44B59"/>
              </a:buClr>
              <a:buSzPts val="1650"/>
              <a:buFont typeface="Barlow Condensed"/>
              <a:buNone/>
            </a:pPr>
            <a:r>
              <a:rPr b="1" i="0" lang="en-US" sz="1650" u="none" cap="none" strike="noStrike">
                <a:solidFill>
                  <a:srgbClr val="244B59"/>
                </a:solidFill>
                <a:latin typeface="Barlow Condensed"/>
                <a:ea typeface="Barlow Condensed"/>
                <a:cs typeface="Barlow Condensed"/>
                <a:sym typeface="Barlow Condensed"/>
              </a:rPr>
              <a:t>4</a:t>
            </a:r>
            <a:endParaRPr b="0" i="0" sz="16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8" name="Google Shape;178;p12"/>
          <p:cNvSpPr/>
          <p:nvPr/>
        </p:nvSpPr>
        <p:spPr>
          <a:xfrm>
            <a:off x="3113410" y="4228505"/>
            <a:ext cx="5587678" cy="1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244B59"/>
              </a:buClr>
              <a:buSzPts val="1250"/>
              <a:buFont typeface="Barlow Condensed"/>
              <a:buNone/>
            </a:pPr>
            <a:r>
              <a:rPr b="1" i="0" lang="en-US" sz="1250" u="none" cap="none" strike="noStrike">
                <a:solidFill>
                  <a:srgbClr val="244B59"/>
                </a:solidFill>
                <a:latin typeface="Barlow Condensed"/>
                <a:ea typeface="Barlow Condensed"/>
                <a:cs typeface="Barlow Condensed"/>
                <a:sym typeface="Barlow Condensed"/>
              </a:rPr>
              <a:t>Qualified product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9" name="Google Shape;179;p12"/>
          <p:cNvSpPr/>
          <p:nvPr/>
        </p:nvSpPr>
        <p:spPr>
          <a:xfrm>
            <a:off x="3113410" y="4485010"/>
            <a:ext cx="5587678" cy="20419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rgbClr val="244B59"/>
              </a:buClr>
              <a:buSzPts val="1200"/>
              <a:buFont typeface="IBM Plex Sans"/>
              <a:buNone/>
            </a:pPr>
            <a:r>
              <a:rPr b="0" i="0" lang="en-US" sz="1200" u="none" cap="none" strike="noStrike">
                <a:solidFill>
                  <a:srgbClr val="244B59"/>
                </a:solidFill>
                <a:latin typeface="IBM Plex Sans"/>
                <a:ea typeface="IBM Plex Sans"/>
                <a:cs typeface="IBM Plex Sans"/>
                <a:sym typeface="IBM Plex Sans"/>
              </a:rPr>
              <a:t>Will safety, price, and customer adoption hold?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0" name="Google Shape;180;p12"/>
          <p:cNvSpPr/>
          <p:nvPr/>
        </p:nvSpPr>
        <p:spPr>
          <a:xfrm>
            <a:off x="2999110" y="4055269"/>
            <a:ext cx="5816278" cy="10716"/>
          </a:xfrm>
          <a:prstGeom prst="roundRect">
            <a:avLst>
              <a:gd fmla="val 49998" name="adj"/>
            </a:avLst>
          </a:prstGeom>
          <a:solidFill>
            <a:srgbClr val="C8BCC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1" name="Google Shape;181;p12"/>
          <p:cNvSpPr/>
          <p:nvPr/>
        </p:nvSpPr>
        <p:spPr>
          <a:xfrm>
            <a:off x="290513" y="4898752"/>
            <a:ext cx="8853488" cy="12196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Clr>
                <a:srgbClr val="55595E"/>
              </a:buClr>
              <a:buSzPts val="800"/>
              <a:buFont typeface="IBM Plex Mono Medium"/>
              <a:buNone/>
            </a:pPr>
            <a:r>
              <a:rPr b="0" i="0" lang="en-US" sz="800" u="none" cap="none" strike="noStrike">
                <a:solidFill>
                  <a:srgbClr val="55595E"/>
                </a:solidFill>
                <a:latin typeface="IBM Plex Mono Medium"/>
                <a:ea typeface="IBM Plex Mono Medium"/>
                <a:cs typeface="IBM Plex Mono Medium"/>
                <a:sym typeface="IBM Plex Mono Medium"/>
              </a:rPr>
              <a:t>COMMERCIALIZATION BARRIERS · MATERIAL QUALITY · FORMULATION · SCALE-UP · PRODUCTION COST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6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Google Shape;187;p13"/>
          <p:cNvSpPr/>
          <p:nvPr/>
        </p:nvSpPr>
        <p:spPr>
          <a:xfrm>
            <a:off x="252413" y="214313"/>
            <a:ext cx="8891588" cy="12196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Clr>
                <a:srgbClr val="8A1125"/>
              </a:buClr>
              <a:buSzPts val="800"/>
              <a:buFont typeface="IBM Plex Mono SemiBold"/>
              <a:buNone/>
            </a:pPr>
            <a:r>
              <a:rPr b="0" i="0" lang="en-US" sz="800" u="none" cap="none" strike="noStrike">
                <a:solidFill>
                  <a:srgbClr val="8A1125"/>
                </a:solidFill>
                <a:latin typeface="IBM Plex Mono SemiBold"/>
                <a:ea typeface="IBM Plex Mono SemiBold"/>
                <a:cs typeface="IBM Plex Mono SemiBold"/>
                <a:sym typeface="IBM Plex Mono SemiBold"/>
              </a:rPr>
              <a:t>COUNTRY PROGRESS MATRIX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8" name="Google Shape;188;p13"/>
          <p:cNvSpPr/>
          <p:nvPr/>
        </p:nvSpPr>
        <p:spPr>
          <a:xfrm>
            <a:off x="252413" y="393427"/>
            <a:ext cx="8639175" cy="7771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123B4A"/>
              </a:buClr>
              <a:buSzPts val="2900"/>
              <a:buFont typeface="Barlow Condensed"/>
              <a:buNone/>
            </a:pPr>
            <a:r>
              <a:rPr b="1" i="0" lang="en-US" sz="2900" u="none" cap="none" strike="noStrike">
                <a:solidFill>
                  <a:srgbClr val="123B4A"/>
                </a:solidFill>
                <a:latin typeface="Barlow Condensed"/>
                <a:ea typeface="Barlow Condensed"/>
                <a:cs typeface="Barlow Condensed"/>
                <a:sym typeface="Barlow Condensed"/>
              </a:rPr>
              <a:t>Countries are competing across different layers of the value chain</a:t>
            </a:r>
            <a:endParaRPr b="0" i="0" sz="2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9" name="Google Shape;189;p13"/>
          <p:cNvSpPr/>
          <p:nvPr/>
        </p:nvSpPr>
        <p:spPr>
          <a:xfrm>
            <a:off x="252413" y="1313483"/>
            <a:ext cx="8891588" cy="20419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rgbClr val="244B59"/>
              </a:buClr>
              <a:buSzPts val="1200"/>
              <a:buFont typeface="IBM Plex Sans"/>
              <a:buNone/>
            </a:pPr>
            <a:r>
              <a:rPr b="0" i="0" lang="en-US" sz="1200" u="none" cap="none" strike="noStrike">
                <a:solidFill>
                  <a:srgbClr val="244B59"/>
                </a:solidFill>
                <a:latin typeface="IBM Plex Sans"/>
                <a:ea typeface="IBM Plex Sans"/>
                <a:cs typeface="IBM Plex Sans"/>
                <a:sym typeface="IBM Plex Sans"/>
              </a:rPr>
              <a:t>Leadership is multidimensional: research, patents, manufacturing, and market adoption do not move together.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190" name="Google Shape;190;p13"/>
          <p:cNvGraphicFramePr/>
          <p:nvPr/>
        </p:nvGraphicFramePr>
        <p:xfrm>
          <a:off x="252413" y="1646262"/>
          <a:ext cx="3000000" cy="3000000"/>
        </p:xfrm>
        <a:graphic>
          <a:graphicData uri="http://schemas.openxmlformats.org/drawingml/2006/table">
            <a:tbl>
              <a:tblPr>
                <a:noFill/>
                <a:tableStyleId>{C88FD080-7314-4CB2-AF5C-8A6759A5FB81}</a:tableStyleId>
              </a:tblPr>
              <a:tblGrid>
                <a:gridCol w="1555050"/>
                <a:gridCol w="2332575"/>
                <a:gridCol w="2332575"/>
                <a:gridCol w="2418975"/>
              </a:tblGrid>
              <a:tr h="2899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23B4A"/>
                        </a:buClr>
                        <a:buSzPts val="1200"/>
                        <a:buFont typeface="IBM Plex Sans"/>
                        <a:buNone/>
                      </a:pPr>
                      <a:r>
                        <a:rPr lang="en-US" sz="1200" u="none" cap="none" strike="noStrike">
                          <a:solidFill>
                            <a:srgbClr val="123B4A"/>
                          </a:solidFill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Country</a:t>
                      </a:r>
                      <a:endParaRPr sz="1200" u="none" cap="none" strike="noStrike">
                        <a:latin typeface="IBM Plex Sans"/>
                        <a:ea typeface="IBM Plex Sans"/>
                        <a:cs typeface="IBM Plex Sans"/>
                        <a:sym typeface="IBM Plex Sans"/>
                      </a:endParaRPr>
                    </a:p>
                  </a:txBody>
                  <a:tcPr marT="38100" marB="38100" marR="64000" marL="64000" anchor="ctr">
                    <a:lnL cap="flat" cmpd="sng" w="12700">
                      <a:solidFill>
                        <a:srgbClr val="A0A3A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ECEAE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A0A3A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A0A3A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CEAE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23B4A"/>
                        </a:buClr>
                        <a:buSzPts val="1200"/>
                        <a:buFont typeface="IBM Plex Sans"/>
                        <a:buNone/>
                      </a:pPr>
                      <a:r>
                        <a:rPr lang="en-US" sz="1200" u="none" cap="none" strike="noStrike">
                          <a:solidFill>
                            <a:srgbClr val="123B4A"/>
                          </a:solidFill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Public strategy</a:t>
                      </a:r>
                      <a:endParaRPr sz="1200" u="none" cap="none" strike="noStrike">
                        <a:latin typeface="IBM Plex Sans"/>
                        <a:ea typeface="IBM Plex Sans"/>
                        <a:cs typeface="IBM Plex Sans"/>
                        <a:sym typeface="IBM Plex Sans"/>
                      </a:endParaRPr>
                    </a:p>
                  </a:txBody>
                  <a:tcPr marT="38100" marB="38100" marR="64000" marL="64000" anchor="ctr">
                    <a:lnL cap="flat" cmpd="sng" w="12700">
                      <a:solidFill>
                        <a:srgbClr val="ECEAE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ECEAE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A0A3A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A0A3A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CEAE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23B4A"/>
                        </a:buClr>
                        <a:buSzPts val="1200"/>
                        <a:buFont typeface="IBM Plex Sans"/>
                        <a:buNone/>
                      </a:pPr>
                      <a:r>
                        <a:rPr lang="en-US" sz="1200" u="none" cap="none" strike="noStrike">
                          <a:solidFill>
                            <a:srgbClr val="123B4A"/>
                          </a:solidFill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Strongest layer</a:t>
                      </a:r>
                      <a:endParaRPr sz="1200" u="none" cap="none" strike="noStrike">
                        <a:latin typeface="IBM Plex Sans"/>
                        <a:ea typeface="IBM Plex Sans"/>
                        <a:cs typeface="IBM Plex Sans"/>
                        <a:sym typeface="IBM Plex Sans"/>
                      </a:endParaRPr>
                    </a:p>
                  </a:txBody>
                  <a:tcPr marT="38100" marB="38100" marR="64000" marL="64000" anchor="ctr">
                    <a:lnL cap="flat" cmpd="sng" w="12700">
                      <a:solidFill>
                        <a:srgbClr val="ECEAE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ECEAE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A0A3A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A0A3A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CEAE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23B4A"/>
                        </a:buClr>
                        <a:buSzPts val="1200"/>
                        <a:buFont typeface="IBM Plex Sans"/>
                        <a:buNone/>
                      </a:pPr>
                      <a:r>
                        <a:rPr lang="en-US" sz="1200" u="none" cap="none" strike="noStrike">
                          <a:solidFill>
                            <a:srgbClr val="123B4A"/>
                          </a:solidFill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Commercialization signal</a:t>
                      </a:r>
                      <a:endParaRPr sz="1200" u="none" cap="none" strike="noStrike">
                        <a:latin typeface="IBM Plex Sans"/>
                        <a:ea typeface="IBM Plex Sans"/>
                        <a:cs typeface="IBM Plex Sans"/>
                        <a:sym typeface="IBM Plex Sans"/>
                      </a:endParaRPr>
                    </a:p>
                  </a:txBody>
                  <a:tcPr marT="38100" marB="38100" marR="64000" marL="64000" anchor="ctr">
                    <a:lnL cap="flat" cmpd="sng" w="12700">
                      <a:solidFill>
                        <a:srgbClr val="ECEAE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A0A3A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A0A3A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A0A3A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CEAEC"/>
                    </a:solidFill>
                  </a:tcPr>
                </a:tc>
              </a:tr>
              <a:tr h="6983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44B59"/>
                        </a:buClr>
                        <a:buSzPts val="1200"/>
                        <a:buFont typeface="IBM Plex Sans"/>
                        <a:buNone/>
                      </a:pPr>
                      <a:r>
                        <a:rPr b="1" lang="en-US" sz="1200" u="none" cap="none" strike="noStrike">
                          <a:solidFill>
                            <a:srgbClr val="244B59"/>
                          </a:solidFill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United States</a:t>
                      </a:r>
                      <a:endParaRPr sz="1200" u="none" cap="none" strike="noStrike">
                        <a:latin typeface="IBM Plex Sans"/>
                        <a:ea typeface="IBM Plex Sans"/>
                        <a:cs typeface="IBM Plex Sans"/>
                        <a:sym typeface="IBM Plex Sans"/>
                      </a:endParaRPr>
                    </a:p>
                  </a:txBody>
                  <a:tcPr marT="38100" marB="38100" marR="64000" marL="64000" anchor="ctr">
                    <a:lnL cap="flat" cmpd="sng" w="12700">
                      <a:solidFill>
                        <a:srgbClr val="A0A3A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ECEAE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A0A3A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A0A3A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CEAE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44B59"/>
                        </a:buClr>
                        <a:buSzPts val="1200"/>
                        <a:buFont typeface="IBM Plex Sans"/>
                        <a:buNone/>
                      </a:pPr>
                      <a:r>
                        <a:rPr lang="en-US" sz="1200" u="none" cap="none" strike="noStrike">
                          <a:solidFill>
                            <a:srgbClr val="244B59"/>
                          </a:solidFill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Interagency R&amp;D platform</a:t>
                      </a:r>
                      <a:endParaRPr sz="1200" u="none" cap="none" strike="noStrike">
                        <a:latin typeface="IBM Plex Sans"/>
                        <a:ea typeface="IBM Plex Sans"/>
                        <a:cs typeface="IBM Plex Sans"/>
                        <a:sym typeface="IBM Plex Sans"/>
                      </a:endParaRPr>
                    </a:p>
                  </a:txBody>
                  <a:tcPr marT="38100" marB="38100" marR="64000" marL="64000" anchor="ctr">
                    <a:lnL cap="flat" cmpd="sng" w="12700">
                      <a:solidFill>
                        <a:srgbClr val="ECEAE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ECEAE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A0A3A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A0A3A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CEAE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44B59"/>
                        </a:buClr>
                        <a:buSzPts val="1200"/>
                        <a:buFont typeface="IBM Plex Sans"/>
                        <a:buNone/>
                      </a:pPr>
                      <a:r>
                        <a:rPr lang="en-US" sz="1200" u="none" cap="none" strike="noStrike">
                          <a:solidFill>
                            <a:srgbClr val="244B59"/>
                          </a:solidFill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Research infrastructure</a:t>
                      </a:r>
                      <a:endParaRPr sz="1200" u="none" cap="none" strike="noStrike">
                        <a:latin typeface="IBM Plex Sans"/>
                        <a:ea typeface="IBM Plex Sans"/>
                        <a:cs typeface="IBM Plex Sans"/>
                        <a:sym typeface="IBM Plex Sans"/>
                      </a:endParaRPr>
                    </a:p>
                  </a:txBody>
                  <a:tcPr marT="38100" marB="38100" marR="64000" marL="64000" anchor="ctr">
                    <a:lnL cap="flat" cmpd="sng" w="12700">
                      <a:solidFill>
                        <a:srgbClr val="ECEAE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ECEAE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A0A3A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A0A3A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CEAE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44B59"/>
                        </a:buClr>
                        <a:buSzPts val="1200"/>
                        <a:buFont typeface="IBM Plex Sans"/>
                        <a:buNone/>
                      </a:pPr>
                      <a:r>
                        <a:rPr lang="en-US" sz="1200" u="none" cap="none" strike="noStrike">
                          <a:solidFill>
                            <a:srgbClr val="244B59"/>
                          </a:solidFill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FY2025 NNI request: </a:t>
                      </a:r>
                      <a:r>
                        <a:rPr b="1" lang="en-US" sz="1200" u="none" cap="none" strike="noStrike">
                          <a:solidFill>
                            <a:srgbClr val="244B59"/>
                          </a:solidFill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$2.2B</a:t>
                      </a:r>
                      <a:r>
                        <a:rPr lang="en-US" sz="1200" u="none" cap="none" strike="noStrike">
                          <a:solidFill>
                            <a:srgbClr val="244B59"/>
                          </a:solidFill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2025 request; cumulative funding above $45B since 2001</a:t>
                      </a:r>
                      <a:endParaRPr sz="1200" u="none" cap="none" strike="noStrike">
                        <a:latin typeface="IBM Plex Sans"/>
                        <a:ea typeface="IBM Plex Sans"/>
                        <a:cs typeface="IBM Plex Sans"/>
                        <a:sym typeface="IBM Plex Sans"/>
                      </a:endParaRPr>
                    </a:p>
                  </a:txBody>
                  <a:tcPr marT="38100" marB="38100" marR="64000" marL="64000" anchor="ctr">
                    <a:lnL cap="flat" cmpd="sng" w="12700">
                      <a:solidFill>
                        <a:srgbClr val="ECEAE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A0A3A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A0A3A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A0A3A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CEAEC"/>
                    </a:solidFill>
                  </a:tcPr>
                </a:tc>
              </a:tr>
              <a:tr h="6983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44B59"/>
                        </a:buClr>
                        <a:buSzPts val="1200"/>
                        <a:buFont typeface="IBM Plex Sans"/>
                        <a:buNone/>
                      </a:pPr>
                      <a:r>
                        <a:rPr b="1" lang="en-US" sz="1200" u="none" cap="none" strike="noStrike">
                          <a:solidFill>
                            <a:srgbClr val="244B59"/>
                          </a:solidFill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China</a:t>
                      </a:r>
                      <a:endParaRPr sz="1200" u="none" cap="none" strike="noStrike">
                        <a:latin typeface="IBM Plex Sans"/>
                        <a:ea typeface="IBM Plex Sans"/>
                        <a:cs typeface="IBM Plex Sans"/>
                        <a:sym typeface="IBM Plex Sans"/>
                      </a:endParaRPr>
                    </a:p>
                  </a:txBody>
                  <a:tcPr marT="38100" marB="38100" marR="64000" marL="64000" anchor="ctr">
                    <a:lnL cap="flat" cmpd="sng" w="12700">
                      <a:solidFill>
                        <a:srgbClr val="A0A3A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ECEAE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A0A3A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A0A3A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CEAE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44B59"/>
                        </a:buClr>
                        <a:buSzPts val="1200"/>
                        <a:buFont typeface="IBM Plex Sans"/>
                        <a:buNone/>
                      </a:pPr>
                      <a:r>
                        <a:rPr lang="en-US" sz="1200" u="none" cap="none" strike="noStrike">
                          <a:solidFill>
                            <a:srgbClr val="244B59"/>
                          </a:solidFill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National scale and patent activity</a:t>
                      </a:r>
                      <a:endParaRPr sz="1200" u="none" cap="none" strike="noStrike">
                        <a:latin typeface="IBM Plex Sans"/>
                        <a:ea typeface="IBM Plex Sans"/>
                        <a:cs typeface="IBM Plex Sans"/>
                        <a:sym typeface="IBM Plex Sans"/>
                      </a:endParaRPr>
                    </a:p>
                  </a:txBody>
                  <a:tcPr marT="38100" marB="38100" marR="64000" marL="64000" anchor="ctr">
                    <a:lnL cap="flat" cmpd="sng" w="12700">
                      <a:solidFill>
                        <a:srgbClr val="ECEAE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ECEAE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A0A3A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A0A3A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CEAE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44B59"/>
                        </a:buClr>
                        <a:buSzPts val="1200"/>
                        <a:buFont typeface="IBM Plex Sans"/>
                        <a:buNone/>
                      </a:pPr>
                      <a:r>
                        <a:rPr lang="en-US" sz="1200" u="none" cap="none" strike="noStrike">
                          <a:solidFill>
                            <a:srgbClr val="244B59"/>
                          </a:solidFill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Patents and enterprise base</a:t>
                      </a:r>
                      <a:endParaRPr sz="1200" u="none" cap="none" strike="noStrike">
                        <a:latin typeface="IBM Plex Sans"/>
                        <a:ea typeface="IBM Plex Sans"/>
                        <a:cs typeface="IBM Plex Sans"/>
                        <a:sym typeface="IBM Plex Sans"/>
                      </a:endParaRPr>
                    </a:p>
                  </a:txBody>
                  <a:tcPr marT="38100" marB="38100" marR="64000" marL="64000" anchor="ctr">
                    <a:lnL cap="flat" cmpd="sng" w="12700">
                      <a:solidFill>
                        <a:srgbClr val="ECEAE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ECEAE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A0A3A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A0A3A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CEAE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44B59"/>
                        </a:buClr>
                        <a:buSzPts val="1200"/>
                        <a:buFont typeface="IBM Plex Sans"/>
                        <a:buNone/>
                      </a:pPr>
                      <a:r>
                        <a:rPr b="1" lang="en-US" sz="1200" u="none" cap="none" strike="noStrike">
                          <a:solidFill>
                            <a:srgbClr val="244B59"/>
                          </a:solidFill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464,000 authorized patents; 34,500 enterprises2025 white paper</a:t>
                      </a:r>
                      <a:endParaRPr sz="1200" u="none" cap="none" strike="noStrike">
                        <a:latin typeface="IBM Plex Sans"/>
                        <a:ea typeface="IBM Plex Sans"/>
                        <a:cs typeface="IBM Plex Sans"/>
                        <a:sym typeface="IBM Plex Sans"/>
                      </a:endParaRPr>
                    </a:p>
                  </a:txBody>
                  <a:tcPr marT="38100" marB="38100" marR="64000" marL="64000" anchor="ctr">
                    <a:lnL cap="flat" cmpd="sng" w="12700">
                      <a:solidFill>
                        <a:srgbClr val="ECEAE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A0A3A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A0A3A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A0A3A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CEAEC"/>
                    </a:solidFill>
                  </a:tcPr>
                </a:tc>
              </a:tr>
              <a:tr h="4941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44B59"/>
                        </a:buClr>
                        <a:buSzPts val="1200"/>
                        <a:buFont typeface="IBM Plex Sans"/>
                        <a:buNone/>
                      </a:pPr>
                      <a:r>
                        <a:rPr b="1" lang="en-US" sz="1200" u="none" cap="none" strike="noStrike">
                          <a:solidFill>
                            <a:srgbClr val="244B59"/>
                          </a:solidFill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European Union</a:t>
                      </a:r>
                      <a:endParaRPr sz="1200" u="none" cap="none" strike="noStrike">
                        <a:latin typeface="IBM Plex Sans"/>
                        <a:ea typeface="IBM Plex Sans"/>
                        <a:cs typeface="IBM Plex Sans"/>
                        <a:sym typeface="IBM Plex Sans"/>
                      </a:endParaRPr>
                    </a:p>
                  </a:txBody>
                  <a:tcPr marT="38100" marB="38100" marR="64000" marL="64000" anchor="ctr">
                    <a:lnL cap="flat" cmpd="sng" w="12700">
                      <a:solidFill>
                        <a:srgbClr val="A0A3A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ECEAE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A0A3A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A0A3A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CEAE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44B59"/>
                        </a:buClr>
                        <a:buSzPts val="1200"/>
                        <a:buFont typeface="IBM Plex Sans"/>
                        <a:buNone/>
                      </a:pPr>
                      <a:r>
                        <a:rPr lang="en-US" sz="1200" u="none" cap="none" strike="noStrike">
                          <a:solidFill>
                            <a:srgbClr val="244B59"/>
                          </a:solidFill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Coordinated research and commercialization programs</a:t>
                      </a:r>
                      <a:endParaRPr sz="1200" u="none" cap="none" strike="noStrike">
                        <a:latin typeface="IBM Plex Sans"/>
                        <a:ea typeface="IBM Plex Sans"/>
                        <a:cs typeface="IBM Plex Sans"/>
                        <a:sym typeface="IBM Plex Sans"/>
                      </a:endParaRPr>
                    </a:p>
                  </a:txBody>
                  <a:tcPr marT="38100" marB="38100" marR="64000" marL="64000" anchor="ctr">
                    <a:lnL cap="flat" cmpd="sng" w="12700">
                      <a:solidFill>
                        <a:srgbClr val="ECEAE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ECEAE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A0A3A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A0A3A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CEAE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44B59"/>
                        </a:buClr>
                        <a:buSzPts val="1200"/>
                        <a:buFont typeface="IBM Plex Sans"/>
                        <a:buNone/>
                      </a:pPr>
                      <a:r>
                        <a:rPr lang="en-US" sz="1200" u="none" cap="none" strike="noStrike">
                          <a:solidFill>
                            <a:srgbClr val="244B59"/>
                          </a:solidFill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Translation and scale-up networks</a:t>
                      </a:r>
                      <a:endParaRPr sz="1200" u="none" cap="none" strike="noStrike">
                        <a:latin typeface="IBM Plex Sans"/>
                        <a:ea typeface="IBM Plex Sans"/>
                        <a:cs typeface="IBM Plex Sans"/>
                        <a:sym typeface="IBM Plex Sans"/>
                      </a:endParaRPr>
                    </a:p>
                  </a:txBody>
                  <a:tcPr marT="38100" marB="38100" marR="64000" marL="64000" anchor="ctr">
                    <a:lnL cap="flat" cmpd="sng" w="12700">
                      <a:solidFill>
                        <a:srgbClr val="ECEAE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ECEAE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A0A3A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A0A3A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CEAE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44B59"/>
                        </a:buClr>
                        <a:buSzPts val="1200"/>
                        <a:buFont typeface="IBM Plex Sans"/>
                        <a:buNone/>
                      </a:pPr>
                      <a:r>
                        <a:rPr lang="en-US" sz="1200" u="none" cap="none" strike="noStrike">
                          <a:solidFill>
                            <a:srgbClr val="244B59"/>
                          </a:solidFill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Scale-up and cost treated as explicit barriers</a:t>
                      </a:r>
                      <a:endParaRPr sz="1200" u="none" cap="none" strike="noStrike">
                        <a:latin typeface="IBM Plex Sans"/>
                        <a:ea typeface="IBM Plex Sans"/>
                        <a:cs typeface="IBM Plex Sans"/>
                        <a:sym typeface="IBM Plex Sans"/>
                      </a:endParaRPr>
                    </a:p>
                  </a:txBody>
                  <a:tcPr marT="38100" marB="38100" marR="64000" marL="64000" anchor="ctr">
                    <a:lnL cap="flat" cmpd="sng" w="12700">
                      <a:solidFill>
                        <a:srgbClr val="ECEAE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A0A3A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A0A3A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A0A3A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CEAEC"/>
                    </a:solidFill>
                  </a:tcPr>
                </a:tc>
              </a:tr>
              <a:tr h="6983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44B59"/>
                        </a:buClr>
                        <a:buSzPts val="1200"/>
                        <a:buFont typeface="IBM Plex Sans"/>
                        <a:buNone/>
                      </a:pPr>
                      <a:r>
                        <a:rPr b="1" lang="en-US" sz="1200" u="none" cap="none" strike="noStrike">
                          <a:solidFill>
                            <a:srgbClr val="244B59"/>
                          </a:solidFill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Japan</a:t>
                      </a:r>
                      <a:endParaRPr sz="1200" u="none" cap="none" strike="noStrike">
                        <a:latin typeface="IBM Plex Sans"/>
                        <a:ea typeface="IBM Plex Sans"/>
                        <a:cs typeface="IBM Plex Sans"/>
                        <a:sym typeface="IBM Plex Sans"/>
                      </a:endParaRPr>
                    </a:p>
                  </a:txBody>
                  <a:tcPr marT="38100" marB="38100" marR="64000" marL="64000" anchor="ctr">
                    <a:lnL cap="flat" cmpd="sng" w="12700">
                      <a:solidFill>
                        <a:srgbClr val="A0A3A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ECEAE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A0A3A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A0A3A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CEAE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44B59"/>
                        </a:buClr>
                        <a:buSzPts val="1200"/>
                        <a:buFont typeface="IBM Plex Sans"/>
                        <a:buNone/>
                      </a:pPr>
                      <a:r>
                        <a:rPr lang="en-US" sz="1200" u="none" cap="none" strike="noStrike">
                          <a:solidFill>
                            <a:srgbClr val="244B59"/>
                          </a:solidFill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Frontier technology linked to competitiveness and economic security</a:t>
                      </a:r>
                      <a:endParaRPr sz="1200" u="none" cap="none" strike="noStrike">
                        <a:latin typeface="IBM Plex Sans"/>
                        <a:ea typeface="IBM Plex Sans"/>
                        <a:cs typeface="IBM Plex Sans"/>
                        <a:sym typeface="IBM Plex Sans"/>
                      </a:endParaRPr>
                    </a:p>
                  </a:txBody>
                  <a:tcPr marT="38100" marB="38100" marR="64000" marL="64000" anchor="ctr">
                    <a:lnL cap="flat" cmpd="sng" w="12700">
                      <a:solidFill>
                        <a:srgbClr val="ECEAE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ECEAE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A0A3A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A0A3A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CEAE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44B59"/>
                        </a:buClr>
                        <a:buSzPts val="1200"/>
                        <a:buFont typeface="IBM Plex Sans"/>
                        <a:buNone/>
                      </a:pPr>
                      <a:r>
                        <a:rPr lang="en-US" sz="1200" u="none" cap="none" strike="noStrike">
                          <a:solidFill>
                            <a:srgbClr val="244B59"/>
                          </a:solidFill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Advanced materials and devices</a:t>
                      </a:r>
                      <a:endParaRPr sz="1200" u="none" cap="none" strike="noStrike">
                        <a:latin typeface="IBM Plex Sans"/>
                        <a:ea typeface="IBM Plex Sans"/>
                        <a:cs typeface="IBM Plex Sans"/>
                        <a:sym typeface="IBM Plex Sans"/>
                      </a:endParaRPr>
                    </a:p>
                  </a:txBody>
                  <a:tcPr marT="38100" marB="38100" marR="64000" marL="64000" anchor="ctr">
                    <a:lnL cap="flat" cmpd="sng" w="12700">
                      <a:solidFill>
                        <a:srgbClr val="ECEAE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ECEAE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A0A3A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A0A3A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CEAE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44B59"/>
                        </a:buClr>
                        <a:buSzPts val="1200"/>
                        <a:buFont typeface="IBM Plex Sans"/>
                        <a:buNone/>
                      </a:pPr>
                      <a:r>
                        <a:rPr lang="en-US" sz="1200" u="none" cap="none" strike="noStrike">
                          <a:solidFill>
                            <a:srgbClr val="244B59"/>
                          </a:solidFill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Mature industrial base for integration</a:t>
                      </a:r>
                      <a:endParaRPr sz="1200" u="none" cap="none" strike="noStrike">
                        <a:latin typeface="IBM Plex Sans"/>
                        <a:ea typeface="IBM Plex Sans"/>
                        <a:cs typeface="IBM Plex Sans"/>
                        <a:sym typeface="IBM Plex Sans"/>
                      </a:endParaRPr>
                    </a:p>
                  </a:txBody>
                  <a:tcPr marT="38100" marB="38100" marR="64000" marL="64000" anchor="ctr">
                    <a:lnL cap="flat" cmpd="sng" w="12700">
                      <a:solidFill>
                        <a:srgbClr val="ECEAE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A0A3A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A0A3A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A0A3A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CEAEC"/>
                    </a:solidFill>
                  </a:tcPr>
                </a:tc>
              </a:tr>
              <a:tr h="4845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44B59"/>
                        </a:buClr>
                        <a:buSzPts val="1200"/>
                        <a:buFont typeface="IBM Plex Sans"/>
                        <a:buNone/>
                      </a:pPr>
                      <a:r>
                        <a:rPr b="1" lang="en-US" sz="1200" u="none" cap="none" strike="noStrike">
                          <a:solidFill>
                            <a:srgbClr val="244B59"/>
                          </a:solidFill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India</a:t>
                      </a:r>
                      <a:endParaRPr sz="1200" u="none" cap="none" strike="noStrike">
                        <a:latin typeface="IBM Plex Sans"/>
                        <a:ea typeface="IBM Plex Sans"/>
                        <a:cs typeface="IBM Plex Sans"/>
                        <a:sym typeface="IBM Plex Sans"/>
                      </a:endParaRPr>
                    </a:p>
                  </a:txBody>
                  <a:tcPr marT="38100" marB="38100" marR="64000" marL="64000" anchor="ctr">
                    <a:lnL cap="flat" cmpd="sng" w="12700">
                      <a:solidFill>
                        <a:srgbClr val="A0A3A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ECEAE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A0A3A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A0A3A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CEAE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44B59"/>
                        </a:buClr>
                        <a:buSzPts val="1200"/>
                        <a:buFont typeface="IBM Plex Sans"/>
                        <a:buNone/>
                      </a:pPr>
                      <a:r>
                        <a:rPr lang="en-US" sz="1200" u="none" cap="none" strike="noStrike">
                          <a:solidFill>
                            <a:srgbClr val="244B59"/>
                          </a:solidFill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Nano Mission and continuing national programs</a:t>
                      </a:r>
                      <a:endParaRPr sz="1200" u="none" cap="none" strike="noStrike">
                        <a:latin typeface="IBM Plex Sans"/>
                        <a:ea typeface="IBM Plex Sans"/>
                        <a:cs typeface="IBM Plex Sans"/>
                        <a:sym typeface="IBM Plex Sans"/>
                      </a:endParaRPr>
                    </a:p>
                  </a:txBody>
                  <a:tcPr marT="38100" marB="38100" marR="64000" marL="64000" anchor="ctr">
                    <a:lnL cap="flat" cmpd="sng" w="12700">
                      <a:solidFill>
                        <a:srgbClr val="ECEAE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ECEAE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A0A3A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A0A3A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CEAE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44B59"/>
                        </a:buClr>
                        <a:buSzPts val="1200"/>
                        <a:buFont typeface="IBM Plex Sans"/>
                        <a:buNone/>
                      </a:pPr>
                      <a:r>
                        <a:rPr lang="en-US" sz="1200" u="none" cap="none" strike="noStrike">
                          <a:solidFill>
                            <a:srgbClr val="244B59"/>
                          </a:solidFill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Capacity building and advanced materials</a:t>
                      </a:r>
                      <a:endParaRPr sz="1200" u="none" cap="none" strike="noStrike">
                        <a:latin typeface="IBM Plex Sans"/>
                        <a:ea typeface="IBM Plex Sans"/>
                        <a:cs typeface="IBM Plex Sans"/>
                        <a:sym typeface="IBM Plex Sans"/>
                      </a:endParaRPr>
                    </a:p>
                  </a:txBody>
                  <a:tcPr marT="38100" marB="38100" marR="64000" marL="64000" anchor="ctr">
                    <a:lnL cap="flat" cmpd="sng" w="12700">
                      <a:solidFill>
                        <a:srgbClr val="ECEAE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ECEAE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A0A3A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A0A3A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CEAE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44B59"/>
                        </a:buClr>
                        <a:buSzPts val="1200"/>
                        <a:buFont typeface="IBM Plex Sans"/>
                        <a:buNone/>
                      </a:pPr>
                      <a:r>
                        <a:rPr lang="en-US" sz="1200" u="none" cap="none" strike="noStrike">
                          <a:solidFill>
                            <a:srgbClr val="244B59"/>
                          </a:solidFill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National Program on Nano Science and Technology</a:t>
                      </a:r>
                      <a:endParaRPr sz="1200" u="none" cap="none" strike="noStrike">
                        <a:latin typeface="IBM Plex Sans"/>
                        <a:ea typeface="IBM Plex Sans"/>
                        <a:cs typeface="IBM Plex Sans"/>
                        <a:sym typeface="IBM Plex Sans"/>
                      </a:endParaRPr>
                    </a:p>
                  </a:txBody>
                  <a:tcPr marT="38100" marB="38100" marR="64000" marL="64000" anchor="ctr">
                    <a:lnL cap="flat" cmpd="sng" w="12700">
                      <a:solidFill>
                        <a:srgbClr val="ECEAE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A0A3A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A0A3A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A0A3A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CEAEC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5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p14"/>
          <p:cNvSpPr/>
          <p:nvPr/>
        </p:nvSpPr>
        <p:spPr>
          <a:xfrm>
            <a:off x="228600" y="228600"/>
            <a:ext cx="8915400" cy="12196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Clr>
                <a:srgbClr val="8A1125"/>
              </a:buClr>
              <a:buSzPts val="800"/>
              <a:buFont typeface="IBM Plex Mono SemiBold"/>
              <a:buNone/>
            </a:pPr>
            <a:r>
              <a:rPr b="0" i="0" lang="en-US" sz="800" u="none" cap="none" strike="noStrike">
                <a:solidFill>
                  <a:srgbClr val="8A1125"/>
                </a:solidFill>
                <a:latin typeface="IBM Plex Mono SemiBold"/>
                <a:ea typeface="IBM Plex Mono SemiBold"/>
                <a:cs typeface="IBM Plex Mono SemiBold"/>
                <a:sym typeface="IBM Plex Mono SemiBold"/>
              </a:rPr>
              <a:t>COMMERCIALIZATION GATES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7" name="Google Shape;197;p14"/>
          <p:cNvSpPr/>
          <p:nvPr/>
        </p:nvSpPr>
        <p:spPr>
          <a:xfrm>
            <a:off x="228600" y="407715"/>
            <a:ext cx="8686800" cy="7771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123B4A"/>
              </a:buClr>
              <a:buSzPts val="2900"/>
              <a:buFont typeface="Barlow Condensed"/>
              <a:buNone/>
            </a:pPr>
            <a:r>
              <a:rPr b="1" i="0" lang="en-US" sz="2900" u="none" cap="none" strike="noStrike">
                <a:solidFill>
                  <a:srgbClr val="123B4A"/>
                </a:solidFill>
                <a:latin typeface="Barlow Condensed"/>
                <a:ea typeface="Barlow Condensed"/>
                <a:cs typeface="Barlow Condensed"/>
                <a:sym typeface="Barlow Condensed"/>
              </a:rPr>
              <a:t>Market success requires safety, quality,</a:t>
            </a:r>
            <a:endParaRPr b="0" i="0" sz="2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123B4A"/>
              </a:buClr>
              <a:buSzPts val="2900"/>
              <a:buFont typeface="Barlow Condensed"/>
              <a:buNone/>
            </a:pPr>
            <a:r>
              <a:rPr b="1" i="0" lang="en-US" sz="2900" u="none" cap="none" strike="noStrike">
                <a:solidFill>
                  <a:srgbClr val="123B4A"/>
                </a:solidFill>
                <a:latin typeface="Barlow Condensed"/>
                <a:ea typeface="Barlow Condensed"/>
                <a:cs typeface="Barlow Condensed"/>
                <a:sym typeface="Barlow Condensed"/>
              </a:rPr>
              <a:t>and repeatability</a:t>
            </a:r>
            <a:endParaRPr b="0" i="0" sz="2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8" name="Google Shape;198;p14"/>
          <p:cNvSpPr/>
          <p:nvPr/>
        </p:nvSpPr>
        <p:spPr>
          <a:xfrm>
            <a:off x="228600" y="1327770"/>
            <a:ext cx="8686800" cy="40838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rgbClr val="244B59"/>
              </a:buClr>
              <a:buSzPts val="1200"/>
              <a:buFont typeface="IBM Plex Sans"/>
              <a:buNone/>
            </a:pPr>
            <a:r>
              <a:rPr b="0" i="0" lang="en-US" sz="1200" u="none" cap="none" strike="noStrike">
                <a:solidFill>
                  <a:srgbClr val="244B59"/>
                </a:solidFill>
                <a:latin typeface="IBM Plex Sans"/>
                <a:ea typeface="IBM Plex Sans"/>
                <a:cs typeface="IBM Plex Sans"/>
                <a:sym typeface="IBM Plex Sans"/>
              </a:rPr>
              <a:t>Nanoscale materials can present health or environmental hazards that differ from the same substance in bulk form; long-term repeated-exposure evidence can remain incomplete.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9" name="Google Shape;199;p14"/>
          <p:cNvSpPr/>
          <p:nvPr/>
        </p:nvSpPr>
        <p:spPr>
          <a:xfrm>
            <a:off x="228600" y="1864742"/>
            <a:ext cx="640110" cy="15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Clr>
                <a:srgbClr val="8A1125"/>
              </a:buClr>
              <a:buSzPts val="1200"/>
              <a:buFont typeface="IBM Plex Sans SemiBold"/>
              <a:buNone/>
            </a:pPr>
            <a:r>
              <a:rPr b="0" i="0" lang="en-US" sz="1200" u="none" cap="none" strike="noStrike">
                <a:solidFill>
                  <a:srgbClr val="8A1125"/>
                </a:solidFill>
                <a:latin typeface="IBM Plex Sans SemiBold"/>
                <a:ea typeface="IBM Plex Sans SemiBold"/>
                <a:cs typeface="IBM Plex Sans SemiBold"/>
                <a:sym typeface="IBM Plex Sans SemiBold"/>
              </a:rPr>
              <a:t>01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0" name="Google Shape;200;p14"/>
          <p:cNvSpPr/>
          <p:nvPr/>
        </p:nvSpPr>
        <p:spPr>
          <a:xfrm>
            <a:off x="228600" y="2078087"/>
            <a:ext cx="2000250" cy="14288"/>
          </a:xfrm>
          <a:prstGeom prst="rect">
            <a:avLst/>
          </a:prstGeom>
          <a:solidFill>
            <a:srgbClr val="8A112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1" name="Google Shape;201;p14"/>
          <p:cNvSpPr/>
          <p:nvPr/>
        </p:nvSpPr>
        <p:spPr>
          <a:xfrm>
            <a:off x="228600" y="2183755"/>
            <a:ext cx="2000250" cy="21371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123B4A"/>
              </a:buClr>
              <a:buSzPts val="1600"/>
              <a:buFont typeface="Barlow Condensed"/>
              <a:buNone/>
            </a:pPr>
            <a:r>
              <a:rPr b="1" i="0" lang="en-US" sz="1600" u="none" cap="none" strike="noStrike">
                <a:solidFill>
                  <a:srgbClr val="123B4A"/>
                </a:solidFill>
                <a:latin typeface="Barlow Condensed"/>
                <a:ea typeface="Barlow Condensed"/>
                <a:cs typeface="Barlow Condensed"/>
                <a:sym typeface="Barlow Condensed"/>
              </a:rPr>
              <a:t>01 · Benefit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2" name="Google Shape;202;p14"/>
          <p:cNvSpPr/>
          <p:nvPr/>
        </p:nvSpPr>
        <p:spPr>
          <a:xfrm>
            <a:off x="228600" y="2499866"/>
            <a:ext cx="2000250" cy="61257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rgbClr val="244B59"/>
              </a:buClr>
              <a:buSzPts val="1200"/>
              <a:buFont typeface="IBM Plex Sans"/>
              <a:buNone/>
            </a:pPr>
            <a:r>
              <a:rPr b="0" i="0" lang="en-US" sz="1200" u="none" cap="none" strike="noStrike">
                <a:solidFill>
                  <a:srgbClr val="244B59"/>
                </a:solidFill>
                <a:latin typeface="IBM Plex Sans"/>
                <a:ea typeface="IBM Plex Sans"/>
                <a:cs typeface="IBM Plex Sans"/>
                <a:sym typeface="IBM Plex Sans"/>
              </a:rPr>
              <a:t>Measure a customer-relevant improvement over the baseline product.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3" name="Google Shape;203;p14"/>
          <p:cNvSpPr/>
          <p:nvPr/>
        </p:nvSpPr>
        <p:spPr>
          <a:xfrm>
            <a:off x="2571750" y="1864742"/>
            <a:ext cx="640110" cy="15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Clr>
                <a:srgbClr val="8A1125"/>
              </a:buClr>
              <a:buSzPts val="1200"/>
              <a:buFont typeface="IBM Plex Sans SemiBold"/>
              <a:buNone/>
            </a:pPr>
            <a:r>
              <a:rPr b="0" i="0" lang="en-US" sz="1200" u="none" cap="none" strike="noStrike">
                <a:solidFill>
                  <a:srgbClr val="8A1125"/>
                </a:solidFill>
                <a:latin typeface="IBM Plex Sans SemiBold"/>
                <a:ea typeface="IBM Plex Sans SemiBold"/>
                <a:cs typeface="IBM Plex Sans SemiBold"/>
                <a:sym typeface="IBM Plex Sans SemiBold"/>
              </a:rPr>
              <a:t>02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4" name="Google Shape;204;p14"/>
          <p:cNvSpPr/>
          <p:nvPr/>
        </p:nvSpPr>
        <p:spPr>
          <a:xfrm>
            <a:off x="2571750" y="2078087"/>
            <a:ext cx="1828800" cy="14288"/>
          </a:xfrm>
          <a:prstGeom prst="rect">
            <a:avLst/>
          </a:prstGeom>
          <a:solidFill>
            <a:srgbClr val="8A112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5" name="Google Shape;205;p14"/>
          <p:cNvSpPr/>
          <p:nvPr/>
        </p:nvSpPr>
        <p:spPr>
          <a:xfrm>
            <a:off x="2571750" y="2183755"/>
            <a:ext cx="1828800" cy="21371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123B4A"/>
              </a:buClr>
              <a:buSzPts val="1600"/>
              <a:buFont typeface="Barlow Condensed"/>
              <a:buNone/>
            </a:pPr>
            <a:r>
              <a:rPr b="1" i="0" lang="en-US" sz="1600" u="none" cap="none" strike="noStrike">
                <a:solidFill>
                  <a:srgbClr val="123B4A"/>
                </a:solidFill>
                <a:latin typeface="Barlow Condensed"/>
                <a:ea typeface="Barlow Condensed"/>
                <a:cs typeface="Barlow Condensed"/>
                <a:sym typeface="Barlow Condensed"/>
              </a:rPr>
              <a:t>02 · Repeatability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6" name="Google Shape;206;p14"/>
          <p:cNvSpPr/>
          <p:nvPr/>
        </p:nvSpPr>
        <p:spPr>
          <a:xfrm>
            <a:off x="2571750" y="2499866"/>
            <a:ext cx="1828800" cy="61257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rgbClr val="244B59"/>
              </a:buClr>
              <a:buSzPts val="1200"/>
              <a:buFont typeface="IBM Plex Sans"/>
              <a:buNone/>
            </a:pPr>
            <a:r>
              <a:rPr b="0" i="0" lang="en-US" sz="1200" u="none" cap="none" strike="noStrike">
                <a:solidFill>
                  <a:srgbClr val="244B59"/>
                </a:solidFill>
                <a:latin typeface="IBM Plex Sans"/>
                <a:ea typeface="IBM Plex Sans"/>
                <a:cs typeface="IBM Plex Sans"/>
                <a:sym typeface="IBM Plex Sans"/>
              </a:rPr>
              <a:t>Specify size, surface, composition, yield, and batch-to-batch quality.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7" name="Google Shape;207;p14"/>
          <p:cNvSpPr/>
          <p:nvPr/>
        </p:nvSpPr>
        <p:spPr>
          <a:xfrm>
            <a:off x="4743450" y="1864742"/>
            <a:ext cx="640110" cy="15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Clr>
                <a:srgbClr val="8A1125"/>
              </a:buClr>
              <a:buSzPts val="1200"/>
              <a:buFont typeface="IBM Plex Sans SemiBold"/>
              <a:buNone/>
            </a:pPr>
            <a:r>
              <a:rPr b="0" i="0" lang="en-US" sz="1200" u="none" cap="none" strike="noStrike">
                <a:solidFill>
                  <a:srgbClr val="8A1125"/>
                </a:solidFill>
                <a:latin typeface="IBM Plex Sans SemiBold"/>
                <a:ea typeface="IBM Plex Sans SemiBold"/>
                <a:cs typeface="IBM Plex Sans SemiBold"/>
                <a:sym typeface="IBM Plex Sans SemiBold"/>
              </a:rPr>
              <a:t>03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8" name="Google Shape;208;p14"/>
          <p:cNvSpPr/>
          <p:nvPr/>
        </p:nvSpPr>
        <p:spPr>
          <a:xfrm>
            <a:off x="4743450" y="2078087"/>
            <a:ext cx="1828800" cy="14288"/>
          </a:xfrm>
          <a:prstGeom prst="rect">
            <a:avLst/>
          </a:prstGeom>
          <a:solidFill>
            <a:srgbClr val="8A112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9" name="Google Shape;209;p14"/>
          <p:cNvSpPr/>
          <p:nvPr/>
        </p:nvSpPr>
        <p:spPr>
          <a:xfrm>
            <a:off x="4743450" y="2183755"/>
            <a:ext cx="1828800" cy="21371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123B4A"/>
              </a:buClr>
              <a:buSzPts val="1600"/>
              <a:buFont typeface="Barlow Condensed"/>
              <a:buNone/>
            </a:pPr>
            <a:r>
              <a:rPr b="1" i="0" lang="en-US" sz="1600" u="none" cap="none" strike="noStrike">
                <a:solidFill>
                  <a:srgbClr val="123B4A"/>
                </a:solidFill>
                <a:latin typeface="Barlow Condensed"/>
                <a:ea typeface="Barlow Condensed"/>
                <a:cs typeface="Barlow Condensed"/>
                <a:sym typeface="Barlow Condensed"/>
              </a:rPr>
              <a:t>03 · Safe use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0" name="Google Shape;210;p14"/>
          <p:cNvSpPr/>
          <p:nvPr/>
        </p:nvSpPr>
        <p:spPr>
          <a:xfrm>
            <a:off x="4743450" y="2499866"/>
            <a:ext cx="1828800" cy="61257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rgbClr val="244B59"/>
              </a:buClr>
              <a:buSzPts val="1200"/>
              <a:buFont typeface="IBM Plex Sans"/>
              <a:buNone/>
            </a:pPr>
            <a:r>
              <a:rPr b="0" i="0" lang="en-US" sz="1200" u="none" cap="none" strike="noStrike">
                <a:solidFill>
                  <a:srgbClr val="244B59"/>
                </a:solidFill>
                <a:latin typeface="IBM Plex Sans"/>
                <a:ea typeface="IBM Plex Sans"/>
                <a:cs typeface="IBM Plex Sans"/>
                <a:sym typeface="IBM Plex Sans"/>
              </a:rPr>
              <a:t>Plan exposure controls, lifecycle effects, and evidence for intended use.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1" name="Google Shape;211;p14"/>
          <p:cNvSpPr/>
          <p:nvPr/>
        </p:nvSpPr>
        <p:spPr>
          <a:xfrm>
            <a:off x="6915150" y="1864742"/>
            <a:ext cx="640110" cy="15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Clr>
                <a:srgbClr val="8A1125"/>
              </a:buClr>
              <a:buSzPts val="1200"/>
              <a:buFont typeface="IBM Plex Sans SemiBold"/>
              <a:buNone/>
            </a:pPr>
            <a:r>
              <a:rPr b="0" i="0" lang="en-US" sz="1200" u="none" cap="none" strike="noStrike">
                <a:solidFill>
                  <a:srgbClr val="8A1125"/>
                </a:solidFill>
                <a:latin typeface="IBM Plex Sans SemiBold"/>
                <a:ea typeface="IBM Plex Sans SemiBold"/>
                <a:cs typeface="IBM Plex Sans SemiBold"/>
                <a:sym typeface="IBM Plex Sans SemiBold"/>
              </a:rPr>
              <a:t>04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2" name="Google Shape;212;p14"/>
          <p:cNvSpPr/>
          <p:nvPr/>
        </p:nvSpPr>
        <p:spPr>
          <a:xfrm>
            <a:off x="6915150" y="2078087"/>
            <a:ext cx="2000250" cy="14288"/>
          </a:xfrm>
          <a:prstGeom prst="rect">
            <a:avLst/>
          </a:prstGeom>
          <a:solidFill>
            <a:srgbClr val="8A112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3" name="Google Shape;213;p14"/>
          <p:cNvSpPr/>
          <p:nvPr/>
        </p:nvSpPr>
        <p:spPr>
          <a:xfrm>
            <a:off x="6915150" y="2183755"/>
            <a:ext cx="2000250" cy="21371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123B4A"/>
              </a:buClr>
              <a:buSzPts val="1600"/>
              <a:buFont typeface="Barlow Condensed"/>
              <a:buNone/>
            </a:pPr>
            <a:r>
              <a:rPr b="1" i="0" lang="en-US" sz="1600" u="none" cap="none" strike="noStrike">
                <a:solidFill>
                  <a:srgbClr val="123B4A"/>
                </a:solidFill>
                <a:latin typeface="Barlow Condensed"/>
                <a:ea typeface="Barlow Condensed"/>
                <a:cs typeface="Barlow Condensed"/>
                <a:sym typeface="Barlow Condensed"/>
              </a:rPr>
              <a:t>04 · Willingness to pay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4" name="Google Shape;214;p14"/>
          <p:cNvSpPr/>
          <p:nvPr/>
        </p:nvSpPr>
        <p:spPr>
          <a:xfrm>
            <a:off x="6915150" y="2499866"/>
            <a:ext cx="2000250" cy="61257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rgbClr val="244B59"/>
              </a:buClr>
              <a:buSzPts val="1200"/>
              <a:buFont typeface="IBM Plex Sans"/>
              <a:buNone/>
            </a:pPr>
            <a:r>
              <a:rPr b="0" i="0" lang="en-US" sz="1200" u="none" cap="none" strike="noStrike">
                <a:solidFill>
                  <a:srgbClr val="244B59"/>
                </a:solidFill>
                <a:latin typeface="IBM Plex Sans"/>
                <a:ea typeface="IBM Plex Sans"/>
                <a:cs typeface="IBM Plex Sans"/>
                <a:sym typeface="IBM Plex Sans"/>
              </a:rPr>
              <a:t>Show that the performance gain is worth the installed cost and qualification effort.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5" name="Google Shape;215;p14"/>
          <p:cNvSpPr/>
          <p:nvPr/>
        </p:nvSpPr>
        <p:spPr>
          <a:xfrm>
            <a:off x="228600" y="4527426"/>
            <a:ext cx="8686800" cy="23738"/>
          </a:xfrm>
          <a:prstGeom prst="roundRect">
            <a:avLst>
              <a:gd fmla="val 50000" name="adj"/>
            </a:avLst>
          </a:prstGeom>
          <a:solidFill>
            <a:srgbClr val="8A112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6" name="Google Shape;216;p14"/>
          <p:cNvSpPr/>
          <p:nvPr/>
        </p:nvSpPr>
        <p:spPr>
          <a:xfrm>
            <a:off x="228600" y="4716735"/>
            <a:ext cx="8915400" cy="12196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Clr>
                <a:srgbClr val="55595E"/>
              </a:buClr>
              <a:buSzPts val="800"/>
              <a:buFont typeface="IBM Plex Mono Medium"/>
              <a:buNone/>
            </a:pPr>
            <a:r>
              <a:rPr b="0" i="0" lang="en-US" sz="800" u="none" cap="none" strike="noStrike">
                <a:solidFill>
                  <a:srgbClr val="55595E"/>
                </a:solidFill>
                <a:latin typeface="IBM Plex Mono Medium"/>
                <a:ea typeface="IBM Plex Mono Medium"/>
                <a:cs typeface="IBM Plex Mono Medium"/>
                <a:sym typeface="IBM Plex Mono Medium"/>
              </a:rPr>
              <a:t>A NANO MATERIAL IS MARKET-READY WHEN ITS SPECIFICATION, SAFETY CASE, AND VALUE PROPOSITION TRAVEL TOGETHER.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7" name="Google Shape;217;p14"/>
          <p:cNvSpPr/>
          <p:nvPr/>
        </p:nvSpPr>
        <p:spPr>
          <a:xfrm>
            <a:off x="2395538" y="1864742"/>
            <a:ext cx="9525" cy="2497187"/>
          </a:xfrm>
          <a:prstGeom prst="rect">
            <a:avLst/>
          </a:prstGeom>
          <a:solidFill>
            <a:srgbClr val="8A112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8" name="Google Shape;218;p14"/>
          <p:cNvSpPr/>
          <p:nvPr/>
        </p:nvSpPr>
        <p:spPr>
          <a:xfrm>
            <a:off x="4567238" y="1864742"/>
            <a:ext cx="9525" cy="2497187"/>
          </a:xfrm>
          <a:prstGeom prst="rect">
            <a:avLst/>
          </a:prstGeom>
          <a:solidFill>
            <a:srgbClr val="8A112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9" name="Google Shape;219;p14"/>
          <p:cNvSpPr/>
          <p:nvPr/>
        </p:nvSpPr>
        <p:spPr>
          <a:xfrm>
            <a:off x="6738938" y="1864742"/>
            <a:ext cx="9525" cy="2497187"/>
          </a:xfrm>
          <a:prstGeom prst="rect">
            <a:avLst/>
          </a:prstGeom>
          <a:solidFill>
            <a:srgbClr val="8A112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4" name="Shape 2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Google Shape;225;p15"/>
          <p:cNvSpPr/>
          <p:nvPr/>
        </p:nvSpPr>
        <p:spPr>
          <a:xfrm>
            <a:off x="347663" y="271463"/>
            <a:ext cx="8796338" cy="12196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Clr>
                <a:srgbClr val="8A1125"/>
              </a:buClr>
              <a:buSzPts val="800"/>
              <a:buFont typeface="IBM Plex Mono SemiBold"/>
              <a:buNone/>
            </a:pPr>
            <a:r>
              <a:rPr b="0" i="0" lang="en-US" sz="800" u="none" cap="none" strike="noStrike">
                <a:solidFill>
                  <a:srgbClr val="8A1125"/>
                </a:solidFill>
                <a:latin typeface="IBM Plex Mono SemiBold"/>
                <a:ea typeface="IBM Plex Mono SemiBold"/>
                <a:cs typeface="IBM Plex Mono SemiBold"/>
                <a:sym typeface="IBM Plex Mono SemiBold"/>
              </a:rPr>
              <a:t>SYNTHESIS / CLASS DISCUSSION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6" name="Google Shape;226;p15"/>
          <p:cNvSpPr/>
          <p:nvPr/>
        </p:nvSpPr>
        <p:spPr>
          <a:xfrm>
            <a:off x="347663" y="450577"/>
            <a:ext cx="8448675" cy="7771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123B4A"/>
              </a:buClr>
              <a:buSzPts val="2950"/>
              <a:buFont typeface="Barlow Condensed"/>
              <a:buNone/>
            </a:pPr>
            <a:r>
              <a:rPr b="1" i="0" lang="en-US" sz="2950" u="none" cap="none" strike="noStrike">
                <a:solidFill>
                  <a:srgbClr val="123B4A"/>
                </a:solidFill>
                <a:latin typeface="Barlow Condensed"/>
                <a:ea typeface="Barlow Condensed"/>
                <a:cs typeface="Barlow Condensed"/>
                <a:sym typeface="Barlow Condensed"/>
              </a:rPr>
              <a:t>Nanotechnology wins when</a:t>
            </a:r>
            <a:endParaRPr b="0" i="0" sz="2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123B4A"/>
              </a:buClr>
              <a:buSzPts val="2950"/>
              <a:buFont typeface="Barlow Condensed"/>
              <a:buNone/>
            </a:pPr>
            <a:r>
              <a:rPr b="1" i="0" lang="en-US" sz="2950" u="none" cap="none" strike="noStrike">
                <a:solidFill>
                  <a:srgbClr val="123B4A"/>
                </a:solidFill>
                <a:latin typeface="Barlow Condensed"/>
                <a:ea typeface="Barlow Condensed"/>
                <a:cs typeface="Barlow Condensed"/>
                <a:sym typeface="Barlow Condensed"/>
              </a:rPr>
              <a:t>the economics are engineered too</a:t>
            </a:r>
            <a:endParaRPr b="0" i="0" sz="2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7" name="Google Shape;227;p15"/>
          <p:cNvSpPr/>
          <p:nvPr/>
        </p:nvSpPr>
        <p:spPr>
          <a:xfrm>
            <a:off x="347663" y="1408733"/>
            <a:ext cx="2112169" cy="28575"/>
          </a:xfrm>
          <a:prstGeom prst="roundRect">
            <a:avLst>
              <a:gd fmla="val 50000" name="adj"/>
            </a:avLst>
          </a:prstGeom>
          <a:solidFill>
            <a:srgbClr val="8A112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8" name="Google Shape;228;p15"/>
          <p:cNvSpPr/>
          <p:nvPr/>
        </p:nvSpPr>
        <p:spPr>
          <a:xfrm>
            <a:off x="347663" y="1680195"/>
            <a:ext cx="445815" cy="323850"/>
          </a:xfrm>
          <a:prstGeom prst="roundRect">
            <a:avLst>
              <a:gd fmla="val 14118" name="adj"/>
            </a:avLst>
          </a:prstGeom>
          <a:solidFill>
            <a:srgbClr val="8A1125"/>
          </a:solidFill>
          <a:ln cap="flat" cmpd="sng" w="9525">
            <a:solidFill>
              <a:srgbClr val="C8BCC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9" name="Google Shape;229;p15"/>
          <p:cNvSpPr/>
          <p:nvPr/>
        </p:nvSpPr>
        <p:spPr>
          <a:xfrm>
            <a:off x="433388" y="1727820"/>
            <a:ext cx="731565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IBM Plex Sans SemiBold"/>
              <a:buNone/>
            </a:pPr>
            <a:r>
              <a:rPr b="0" i="0" lang="en-US" sz="1800" u="none" cap="none" strike="noStrike">
                <a:solidFill>
                  <a:srgbClr val="FFFFFF"/>
                </a:solidFill>
                <a:latin typeface="IBM Plex Sans SemiBold"/>
                <a:ea typeface="IBM Plex Sans SemiBold"/>
                <a:cs typeface="IBM Plex Sans SemiBold"/>
                <a:sym typeface="IBM Plex Sans SemiBold"/>
              </a:rPr>
              <a:t>01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0" name="Google Shape;230;p15"/>
          <p:cNvSpPr/>
          <p:nvPr/>
        </p:nvSpPr>
        <p:spPr>
          <a:xfrm>
            <a:off x="945877" y="1742108"/>
            <a:ext cx="7850460" cy="21371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123B4A"/>
              </a:buClr>
              <a:buSzPts val="1600"/>
              <a:buFont typeface="Barlow Condensed"/>
              <a:buNone/>
            </a:pPr>
            <a:r>
              <a:rPr b="1" i="0" lang="en-US" sz="1600" u="none" cap="none" strike="noStrike">
                <a:solidFill>
                  <a:srgbClr val="123B4A"/>
                </a:solidFill>
                <a:latin typeface="Barlow Condensed"/>
                <a:ea typeface="Barlow Condensed"/>
                <a:cs typeface="Barlow Condensed"/>
                <a:sym typeface="Barlow Condensed"/>
              </a:rPr>
              <a:t>Keep the science focused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1" name="Google Shape;231;p15"/>
          <p:cNvSpPr/>
          <p:nvPr/>
        </p:nvSpPr>
        <p:spPr>
          <a:xfrm>
            <a:off x="945877" y="2058219"/>
            <a:ext cx="8198123" cy="20419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rgbClr val="244B59"/>
              </a:buClr>
              <a:buSzPts val="1200"/>
              <a:buFont typeface="IBM Plex Sans"/>
              <a:buNone/>
            </a:pPr>
            <a:r>
              <a:rPr b="0" i="0" lang="en-US" sz="1200" u="none" cap="none" strike="noStrike">
                <a:solidFill>
                  <a:srgbClr val="244B59"/>
                </a:solidFill>
                <a:latin typeface="IBM Plex Sans"/>
                <a:ea typeface="IBM Plex Sans"/>
                <a:cs typeface="IBM Plex Sans"/>
                <a:sym typeface="IBM Plex Sans"/>
              </a:rPr>
              <a:t>Size, surface, and structure are tools for changing product performance.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2" name="Google Shape;232;p15"/>
          <p:cNvSpPr/>
          <p:nvPr/>
        </p:nvSpPr>
        <p:spPr>
          <a:xfrm>
            <a:off x="347663" y="2414811"/>
            <a:ext cx="445815" cy="323850"/>
          </a:xfrm>
          <a:prstGeom prst="roundRect">
            <a:avLst>
              <a:gd fmla="val 14118" name="adj"/>
            </a:avLst>
          </a:prstGeom>
          <a:solidFill>
            <a:srgbClr val="8A1125"/>
          </a:solidFill>
          <a:ln cap="flat" cmpd="sng" w="9525">
            <a:solidFill>
              <a:srgbClr val="C8BCC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3" name="Google Shape;233;p15"/>
          <p:cNvSpPr/>
          <p:nvPr/>
        </p:nvSpPr>
        <p:spPr>
          <a:xfrm>
            <a:off x="433388" y="2462436"/>
            <a:ext cx="731565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IBM Plex Sans SemiBold"/>
              <a:buNone/>
            </a:pPr>
            <a:r>
              <a:rPr b="0" i="0" lang="en-US" sz="1800" u="none" cap="none" strike="noStrike">
                <a:solidFill>
                  <a:srgbClr val="FFFFFF"/>
                </a:solidFill>
                <a:latin typeface="IBM Plex Sans SemiBold"/>
                <a:ea typeface="IBM Plex Sans SemiBold"/>
                <a:cs typeface="IBM Plex Sans SemiBold"/>
                <a:sym typeface="IBM Plex Sans SemiBold"/>
              </a:rPr>
              <a:t>02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4" name="Google Shape;234;p15"/>
          <p:cNvSpPr/>
          <p:nvPr/>
        </p:nvSpPr>
        <p:spPr>
          <a:xfrm>
            <a:off x="945877" y="2476723"/>
            <a:ext cx="7850460" cy="21371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123B4A"/>
              </a:buClr>
              <a:buSzPts val="1600"/>
              <a:buFont typeface="Barlow Condensed"/>
              <a:buNone/>
            </a:pPr>
            <a:r>
              <a:rPr b="1" i="0" lang="en-US" sz="1600" u="none" cap="none" strike="noStrike">
                <a:solidFill>
                  <a:srgbClr val="123B4A"/>
                </a:solidFill>
                <a:latin typeface="Barlow Condensed"/>
                <a:ea typeface="Barlow Condensed"/>
                <a:cs typeface="Barlow Condensed"/>
                <a:sym typeface="Barlow Condensed"/>
              </a:rPr>
              <a:t>Judge value, not novelty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5" name="Google Shape;235;p15"/>
          <p:cNvSpPr/>
          <p:nvPr/>
        </p:nvSpPr>
        <p:spPr>
          <a:xfrm>
            <a:off x="945877" y="2792834"/>
            <a:ext cx="8198123" cy="20419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rgbClr val="244B59"/>
              </a:buClr>
              <a:buSzPts val="1200"/>
              <a:buFont typeface="IBM Plex Sans"/>
              <a:buNone/>
            </a:pPr>
            <a:r>
              <a:rPr b="0" i="0" lang="en-US" sz="1200" u="none" cap="none" strike="noStrike">
                <a:solidFill>
                  <a:srgbClr val="244B59"/>
                </a:solidFill>
                <a:latin typeface="IBM Plex Sans"/>
                <a:ea typeface="IBM Plex Sans"/>
                <a:cs typeface="IBM Plex Sans"/>
                <a:sym typeface="IBM Plex Sans"/>
              </a:rPr>
              <a:t>Ask what is created per unit cost, not merely what is technically new.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6" name="Google Shape;236;p15"/>
          <p:cNvSpPr/>
          <p:nvPr/>
        </p:nvSpPr>
        <p:spPr>
          <a:xfrm>
            <a:off x="347663" y="3149426"/>
            <a:ext cx="445815" cy="323850"/>
          </a:xfrm>
          <a:prstGeom prst="roundRect">
            <a:avLst>
              <a:gd fmla="val 14118" name="adj"/>
            </a:avLst>
          </a:prstGeom>
          <a:solidFill>
            <a:srgbClr val="8A1125"/>
          </a:solidFill>
          <a:ln cap="flat" cmpd="sng" w="9525">
            <a:solidFill>
              <a:srgbClr val="C8BCC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7" name="Google Shape;237;p15"/>
          <p:cNvSpPr/>
          <p:nvPr/>
        </p:nvSpPr>
        <p:spPr>
          <a:xfrm>
            <a:off x="433388" y="3197051"/>
            <a:ext cx="731565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IBM Plex Sans SemiBold"/>
              <a:buNone/>
            </a:pPr>
            <a:r>
              <a:rPr b="0" i="0" lang="en-US" sz="1800" u="none" cap="none" strike="noStrike">
                <a:solidFill>
                  <a:srgbClr val="FFFFFF"/>
                </a:solidFill>
                <a:latin typeface="IBM Plex Sans SemiBold"/>
                <a:ea typeface="IBM Plex Sans SemiBold"/>
                <a:cs typeface="IBM Plex Sans SemiBold"/>
                <a:sym typeface="IBM Plex Sans SemiBold"/>
              </a:rPr>
              <a:t>03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8" name="Google Shape;238;p15"/>
          <p:cNvSpPr/>
          <p:nvPr/>
        </p:nvSpPr>
        <p:spPr>
          <a:xfrm>
            <a:off x="945877" y="3211339"/>
            <a:ext cx="7850460" cy="21371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123B4A"/>
              </a:buClr>
              <a:buSzPts val="1600"/>
              <a:buFont typeface="Barlow Condensed"/>
              <a:buNone/>
            </a:pPr>
            <a:r>
              <a:rPr b="1" i="0" lang="en-US" sz="1600" u="none" cap="none" strike="noStrike">
                <a:solidFill>
                  <a:srgbClr val="123B4A"/>
                </a:solidFill>
                <a:latin typeface="Barlow Condensed"/>
                <a:ea typeface="Barlow Condensed"/>
                <a:cs typeface="Barlow Condensed"/>
                <a:sym typeface="Barlow Condensed"/>
              </a:rPr>
              <a:t>Read country progress in layers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9" name="Google Shape;239;p15"/>
          <p:cNvSpPr/>
          <p:nvPr/>
        </p:nvSpPr>
        <p:spPr>
          <a:xfrm>
            <a:off x="945877" y="3527450"/>
            <a:ext cx="8198123" cy="20419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rgbClr val="244B59"/>
              </a:buClr>
              <a:buSzPts val="1200"/>
              <a:buFont typeface="IBM Plex Sans"/>
              <a:buNone/>
            </a:pPr>
            <a:r>
              <a:rPr b="0" i="0" lang="en-US" sz="1200" u="none" cap="none" strike="noStrike">
                <a:solidFill>
                  <a:srgbClr val="244B59"/>
                </a:solidFill>
                <a:latin typeface="IBM Plex Sans"/>
                <a:ea typeface="IBM Plex Sans"/>
                <a:cs typeface="IBM Plex Sans"/>
                <a:sym typeface="IBM Plex Sans"/>
              </a:rPr>
              <a:t>Research, infrastructure, patents, manufacturing, and adoption do not move together.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0" name="Google Shape;240;p15"/>
          <p:cNvSpPr/>
          <p:nvPr/>
        </p:nvSpPr>
        <p:spPr>
          <a:xfrm>
            <a:off x="4763" y="4625876"/>
            <a:ext cx="9134475" cy="512862"/>
          </a:xfrm>
          <a:custGeom>
            <a:rect b="b" l="l" r="r" t="t"/>
            <a:pathLst>
              <a:path extrusionOk="0" h="512862" w="9134475">
                <a:moveTo>
                  <a:pt x="0" y="0"/>
                </a:moveTo>
                <a:lnTo>
                  <a:pt x="9134475" y="0"/>
                </a:lnTo>
                <a:lnTo>
                  <a:pt x="9134475" y="493815"/>
                </a:lnTo>
                <a:cubicBezTo>
                  <a:pt x="9134475" y="504334"/>
                  <a:pt x="9125947" y="512862"/>
                  <a:pt x="9115428" y="512862"/>
                </a:cubicBezTo>
                <a:lnTo>
                  <a:pt x="19047" y="512862"/>
                </a:lnTo>
                <a:cubicBezTo>
                  <a:pt x="8528" y="512862"/>
                  <a:pt x="0" y="504334"/>
                  <a:pt x="0" y="493815"/>
                </a:cubicBezTo>
                <a:lnTo>
                  <a:pt x="0" y="0"/>
                </a:lnTo>
                <a:close/>
              </a:path>
            </a:pathLst>
          </a:custGeom>
          <a:solidFill>
            <a:srgbClr val="8A112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1" name="Google Shape;241;p15"/>
          <p:cNvSpPr/>
          <p:nvPr/>
        </p:nvSpPr>
        <p:spPr>
          <a:xfrm>
            <a:off x="347663" y="4702076"/>
            <a:ext cx="8796338" cy="12196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IBM Plex Mono SemiBold"/>
              <a:buNone/>
            </a:pPr>
            <a:r>
              <a:rPr b="0" i="0" lang="en-US" sz="800" u="none" cap="none" strike="noStrike">
                <a:solidFill>
                  <a:srgbClr val="FFFFFF"/>
                </a:solidFill>
                <a:latin typeface="IBM Plex Mono SemiBold"/>
                <a:ea typeface="IBM Plex Mono SemiBold"/>
                <a:cs typeface="IBM Plex Mono SemiBold"/>
                <a:sym typeface="IBM Plex Mono SemiBold"/>
              </a:rPr>
              <a:t>NANOTECHNOLOGY · APPLICATIONS · SCALE-UP · MARKET READINESS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2" name="Google Shape;242;p15"/>
          <p:cNvSpPr/>
          <p:nvPr/>
        </p:nvSpPr>
        <p:spPr>
          <a:xfrm>
            <a:off x="347663" y="2329086"/>
            <a:ext cx="8448675" cy="19050"/>
          </a:xfrm>
          <a:prstGeom prst="rect">
            <a:avLst/>
          </a:prstGeom>
          <a:solidFill>
            <a:srgbClr val="8A112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3" name="Google Shape;243;p15"/>
          <p:cNvSpPr/>
          <p:nvPr/>
        </p:nvSpPr>
        <p:spPr>
          <a:xfrm>
            <a:off x="347663" y="3063701"/>
            <a:ext cx="8448675" cy="19050"/>
          </a:xfrm>
          <a:prstGeom prst="rect">
            <a:avLst/>
          </a:prstGeom>
          <a:solidFill>
            <a:srgbClr val="8A112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4" name="Google Shape;244;p15"/>
          <p:cNvSpPr/>
          <p:nvPr/>
        </p:nvSpPr>
        <p:spPr>
          <a:xfrm>
            <a:off x="4763" y="4621113"/>
            <a:ext cx="9134475" cy="9525"/>
          </a:xfrm>
          <a:prstGeom prst="rect">
            <a:avLst/>
          </a:prstGeom>
          <a:solidFill>
            <a:srgbClr val="8A112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